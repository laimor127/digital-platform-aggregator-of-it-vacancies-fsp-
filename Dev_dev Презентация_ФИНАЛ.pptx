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handoutMasterIdLst>
    <p:handoutMasterId r:id="rId27"/>
  </p:handoutMasterIdLst>
  <p:sldIdLst>
    <p:sldId id="365" r:id="rId2"/>
    <p:sldId id="366" r:id="rId3"/>
    <p:sldId id="362" r:id="rId4"/>
    <p:sldId id="364" r:id="rId5"/>
    <p:sldId id="375" r:id="rId6"/>
    <p:sldId id="374" r:id="rId7"/>
    <p:sldId id="267" r:id="rId8"/>
    <p:sldId id="262" r:id="rId9"/>
    <p:sldId id="371" r:id="rId10"/>
    <p:sldId id="268" r:id="rId11"/>
    <p:sldId id="378" r:id="rId12"/>
    <p:sldId id="266" r:id="rId13"/>
    <p:sldId id="263" r:id="rId14"/>
    <p:sldId id="381" r:id="rId15"/>
    <p:sldId id="372" r:id="rId16"/>
    <p:sldId id="370" r:id="rId17"/>
    <p:sldId id="377" r:id="rId18"/>
    <p:sldId id="376" r:id="rId19"/>
    <p:sldId id="379" r:id="rId20"/>
    <p:sldId id="260" r:id="rId21"/>
    <p:sldId id="380" r:id="rId22"/>
    <p:sldId id="382" r:id="rId23"/>
    <p:sldId id="383" r:id="rId24"/>
    <p:sldId id="373" r:id="rId25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/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74"/>
            <p14:sldId id="267"/>
            <p14:sldId id="262"/>
            <p14:sldId id="371"/>
            <p14:sldId id="268"/>
            <p14:sldId id="378"/>
            <p14:sldId id="266"/>
            <p14:sldId id="263"/>
            <p14:sldId id="381"/>
            <p14:sldId id="372"/>
            <p14:sldId id="370"/>
            <p14:sldId id="377"/>
            <p14:sldId id="376"/>
            <p14:sldId id="379"/>
            <p14:sldId id="260"/>
            <p14:sldId id="380"/>
            <p14:sldId id="382"/>
            <p14:sldId id="383"/>
            <p14:sldId id="373"/>
          </p14:sldIdLst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5763"/>
  </p:normalViewPr>
  <p:slideViewPr>
    <p:cSldViewPr snapToGrid="0" showGuides="1">
      <p:cViewPr varScale="1">
        <p:scale>
          <a:sx n="100" d="100"/>
          <a:sy n="100" d="100"/>
        </p:scale>
        <p:origin x="184" y="55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верных ответов, %</c:v>
                </c:pt>
              </c:strCache>
            </c:strRef>
          </c:tx>
          <c:spPr>
            <a:solidFill>
              <a:srgbClr val="FF0053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/>
                </a:pPr>
                <a:endParaRPr lang="en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Стажёр</c:v>
                </c:pt>
                <c:pt idx="1">
                  <c:v>Junior</c:v>
                </c:pt>
                <c:pt idx="2">
                  <c:v>Middle</c:v>
                </c:pt>
                <c:pt idx="3">
                  <c:v>Senior</c:v>
                </c:pt>
                <c:pt idx="4">
                  <c:v>Lead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23.3</c:v>
                </c:pt>
                <c:pt idx="1">
                  <c:v>37.299999999999997</c:v>
                </c:pt>
                <c:pt idx="2">
                  <c:v>56.7</c:v>
                </c:pt>
                <c:pt idx="3">
                  <c:v>77.400000000000006</c:v>
                </c:pt>
                <c:pt idx="4">
                  <c:v>93.5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699-614A-9380-C2C468CFA7C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8A83D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1C1D22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261129492993"/>
          <c:y val="0.12693525390367644"/>
          <c:w val="0.86424170750053264"/>
          <c:h val="0.6674714227166116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Баллы</c:v>
                </c:pt>
              </c:strCache>
            </c:strRef>
          </c:tx>
          <c:spPr>
            <a:solidFill>
              <a:srgbClr val="FF0053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C1D22"/>
                    </a:solidFill>
                  </a:defRPr>
                </a:pPr>
                <a:endParaRPr lang="en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Актуальность</c:v>
                </c:pt>
                <c:pt idx="1">
                  <c:v>Достижения ФСП</c:v>
                </c:pt>
                <c:pt idx="2">
                  <c:v>Результат теста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25</c:v>
                </c:pt>
                <c:pt idx="2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1C1D22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70"/>
        </c:scaling>
        <c:delete val="1"/>
        <c:axPos val="b"/>
        <c:numFmt formatCode="General" sourceLinked="1"/>
        <c:majorTickMark val="none"/>
        <c:minorTickMark val="none"/>
        <c:tickLblPos val="nextTo"/>
        <c:crossAx val="168854035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 Match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  <a:endParaRPr lang="en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Precision@5, %</c:v>
                </c:pt>
                <c:pt idx="1">
                  <c:v>Precision@10, %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</c:v>
                </c:pt>
                <c:pt idx="1">
                  <c:v>73.8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Выдача по резюме</c:v>
                </c:pt>
              </c:strCache>
            </c:strRef>
          </c:tx>
          <c:spPr>
            <a:solidFill>
              <a:schemeClr val="accent2"/>
            </a:solidFill>
            <a:ln w="63500">
              <a:noFill/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  <a:endParaRPr lang="en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Precision@5, %</c:v>
                </c:pt>
                <c:pt idx="1">
                  <c:v>Precision@10, %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66.5</c:v>
                </c:pt>
                <c:pt idx="1">
                  <c:v>66.2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86-41F6-8A85-7879D9C60F8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20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0673321854045E-2"/>
          <c:y val="0.93820074285734689"/>
          <c:w val="0.94740055839426573"/>
          <c:h val="6.17992571426531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каталоге работодателя под потребность порядок: сначала категория (подтверждённый грейд против грейда вакансии), внутри — сила профиля: тест 60, ФСП 25, актуальность 15. Тест — близость уровня к грейду вакансии. Стек — фильтр каталога. В ленте вакансий кандидата соответствие вакансии по-прежнему считается по 8 факторам: категория 30, тест 20, навыки 20, ФСП 10, описание, актуальность, формат и город, зарплата по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21.10.2026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21.10.2026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21.10.2026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21.10.2026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21.10.2026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21.10.2026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t>IT MATCH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/>
            <a:r>
              <a:rPr lang="ru-RU" dirty="0"/>
              <a:t>Цифровая платформа-агрегатор ИТ-вакансий </a:t>
            </a:r>
            <a:br>
              <a:rPr lang="ru-RU" dirty="0"/>
            </a:br>
            <a:r>
              <a:rPr lang="ru-RU" dirty="0"/>
              <a:t>с верифицированным профилем достижений </a:t>
            </a:r>
            <a:br>
              <a:rPr lang="ru-RU" dirty="0"/>
            </a:br>
            <a:r>
              <a:rPr lang="ru-RU" dirty="0"/>
              <a:t>участника Федерации спортивного программирования (ФСП)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257800"/>
            <a:ext cx="8229600" cy="301621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600" b="1" dirty="0" err="1">
                <a:solidFill>
                  <a:srgbClr val="FFFFFF"/>
                </a:solidFill>
                <a:latin typeface="Montserrat"/>
              </a:rPr>
              <a:t>Команда</a:t>
            </a:r>
            <a:r>
              <a:rPr sz="1600" b="1" dirty="0">
                <a:solidFill>
                  <a:srgbClr val="FFFFFF"/>
                </a:solidFill>
                <a:latin typeface="Montserrat"/>
              </a:rPr>
              <a:t> «</a:t>
            </a:r>
            <a:r>
              <a:rPr lang="en-GB" sz="1600" b="1" dirty="0" err="1">
                <a:solidFill>
                  <a:srgbClr val="FFFFFF"/>
                </a:solidFill>
                <a:latin typeface="Montserrat"/>
              </a:rPr>
              <a:t>Dev_dev</a:t>
            </a:r>
            <a:r>
              <a:rPr sz="1600" b="1" dirty="0">
                <a:solidFill>
                  <a:srgbClr val="FFFFFF"/>
                </a:solidFill>
                <a:latin typeface="Montserrat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13716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Грейд подтверждает тест, а не резюме. Задания собираются из параметрических шаблонов, поэтому утечка ответов почти не помогает. Достижения ФСП поднимают кандидата внутри категории.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>
                <a:solidFill>
                  <a:srgbClr val="520977"/>
                </a:solidFill>
              </a:rPr>
              <a:t>IT MATCH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173736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Веб-платформа с обратной механикой подбора. Кандидат проходит опрос и тест на грейд и получает категорию. Работодатель сам находит его в анонимном каталоге и приглашает с вилкой зарплаты.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338328"/>
            <a:ext cx="6455664" cy="2633472"/>
          </a:xfrm>
          <a:prstGeom prst="rect">
            <a:avLst/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3192" y="868680"/>
            <a:ext cx="5669280" cy="1737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dirty="0" err="1">
                <a:solidFill>
                  <a:srgbClr val="FFFFFF"/>
                </a:solidFill>
                <a:latin typeface="Montserrat"/>
              </a:rPr>
              <a:t>Работодатель</a:t>
            </a:r>
            <a:r>
              <a:rPr sz="24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Montserrat"/>
              </a:rPr>
              <a:t>находит</a:t>
            </a:r>
            <a:r>
              <a:rPr sz="24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Montserrat"/>
              </a:rPr>
              <a:t>кандидата</a:t>
            </a:r>
            <a:r>
              <a:rPr sz="2400" b="1" dirty="0">
                <a:solidFill>
                  <a:srgbClr val="FFFFFF"/>
                </a:solidFill>
                <a:latin typeface="Montserrat"/>
              </a:rPr>
              <a:t>,</a:t>
            </a:r>
          </a:p>
          <a:p>
            <a:pPr algn="l">
              <a:spcAft>
                <a:spcPts val="1000"/>
              </a:spcAft>
            </a:pPr>
            <a:r>
              <a:rPr sz="2400" b="1" dirty="0" err="1">
                <a:solidFill>
                  <a:srgbClr val="FFD6E3"/>
                </a:solidFill>
                <a:latin typeface="Montserrat"/>
              </a:rPr>
              <a:t>а</a:t>
            </a:r>
            <a:r>
              <a:rPr sz="2400" b="1" dirty="0">
                <a:solidFill>
                  <a:srgbClr val="FFD6E3"/>
                </a:solidFill>
                <a:latin typeface="Montserrat"/>
              </a:rPr>
              <a:t> </a:t>
            </a:r>
            <a:r>
              <a:rPr sz="2400" b="1" dirty="0" err="1">
                <a:solidFill>
                  <a:srgbClr val="FFD6E3"/>
                </a:solidFill>
                <a:latin typeface="Montserrat"/>
              </a:rPr>
              <a:t>не</a:t>
            </a:r>
            <a:r>
              <a:rPr sz="2400" b="1" dirty="0">
                <a:solidFill>
                  <a:srgbClr val="FFD6E3"/>
                </a:solidFill>
                <a:latin typeface="Montserrat"/>
              </a:rPr>
              <a:t> </a:t>
            </a:r>
            <a:r>
              <a:rPr sz="2400" b="1" dirty="0" err="1">
                <a:solidFill>
                  <a:srgbClr val="FFD6E3"/>
                </a:solidFill>
                <a:latin typeface="Montserrat"/>
              </a:rPr>
              <a:t>кандидат</a:t>
            </a:r>
            <a:r>
              <a:rPr sz="2400" b="1" dirty="0">
                <a:solidFill>
                  <a:srgbClr val="FFD6E3"/>
                </a:solidFill>
                <a:latin typeface="Montserrat"/>
              </a:rPr>
              <a:t> — </a:t>
            </a:r>
            <a:r>
              <a:rPr sz="2400" b="1" dirty="0" err="1">
                <a:solidFill>
                  <a:srgbClr val="FFD6E3"/>
                </a:solidFill>
                <a:latin typeface="Montserrat"/>
              </a:rPr>
              <a:t>вакансию</a:t>
            </a:r>
            <a:endParaRPr sz="2400" b="1" dirty="0">
              <a:solidFill>
                <a:srgbClr val="FFD6E3"/>
              </a:solidFill>
              <a:latin typeface="Montserrat"/>
            </a:endParaRPr>
          </a:p>
          <a:p>
            <a:pPr algn="l">
              <a:spcAft>
                <a:spcPts val="0"/>
              </a:spcAft>
            </a:pPr>
            <a:r>
              <a:rPr sz="1400" b="0" dirty="0" err="1">
                <a:solidFill>
                  <a:srgbClr val="FFFFFF"/>
                </a:solidFill>
                <a:latin typeface="Montserrat"/>
              </a:rPr>
              <a:t>Платформа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подбора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ИТ-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специалистов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с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подтверждённым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грейдом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и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достижениями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ФСП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3931920"/>
            <a:ext cx="5760720" cy="1148007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00025" indent="-200025" algn="l"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sz="1400" b="1" dirty="0" err="1">
                <a:solidFill>
                  <a:srgbClr val="1C1D22"/>
                </a:solidFill>
                <a:latin typeface="Montserrat"/>
              </a:rPr>
              <a:t>Капитан</a:t>
            </a:r>
            <a:r>
              <a:rPr sz="1400" b="1" dirty="0">
                <a:solidFill>
                  <a:srgbClr val="1C1D22"/>
                </a:solidFill>
                <a:latin typeface="Montserrat"/>
              </a:rPr>
              <a:t>:</a:t>
            </a:r>
            <a:r>
              <a:rPr lang="ru-RU" sz="1400" b="1" dirty="0">
                <a:solidFill>
                  <a:srgbClr val="1C1D22"/>
                </a:solidFill>
                <a:latin typeface="Montserrat"/>
              </a:rPr>
              <a:t> </a:t>
            </a:r>
            <a:r>
              <a:rPr lang="ru-RU" sz="1400" b="1" dirty="0" err="1">
                <a:solidFill>
                  <a:srgbClr val="1C1D22"/>
                </a:solidFill>
                <a:latin typeface="Montserrat"/>
              </a:rPr>
              <a:t>Припадчев</a:t>
            </a:r>
            <a:r>
              <a:rPr lang="ru-RU" sz="1400" b="1" dirty="0">
                <a:solidFill>
                  <a:srgbClr val="1C1D22"/>
                </a:solidFill>
                <a:latin typeface="Montserrat"/>
              </a:rPr>
              <a:t> Алексей</a:t>
            </a:r>
            <a:endParaRPr sz="1400" b="0" dirty="0">
              <a:solidFill>
                <a:srgbClr val="1C1D22"/>
              </a:solidFill>
              <a:latin typeface="Montserrat"/>
            </a:endParaRPr>
          </a:p>
          <a:p>
            <a:pPr marL="200025" indent="-200025" algn="l"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sz="1400" b="1" dirty="0" err="1">
                <a:solidFill>
                  <a:srgbClr val="1C1D22"/>
                </a:solidFill>
                <a:latin typeface="Montserrat"/>
              </a:rPr>
              <a:t>Участников</a:t>
            </a:r>
            <a:r>
              <a:rPr sz="1400" b="1" dirty="0">
                <a:solidFill>
                  <a:srgbClr val="1C1D22"/>
                </a:solidFill>
                <a:latin typeface="Montserrat"/>
              </a:rPr>
              <a:t>: 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3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человека</a:t>
            </a:r>
            <a:endParaRPr sz="1400" b="0" dirty="0">
              <a:solidFill>
                <a:srgbClr val="1C1D22"/>
              </a:solidFill>
              <a:latin typeface="Montserrat"/>
            </a:endParaRPr>
          </a:p>
          <a:p>
            <a:pPr marL="200025" indent="-200025" algn="l"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sz="1400" b="1" dirty="0" err="1">
                <a:solidFill>
                  <a:srgbClr val="1C1D22"/>
                </a:solidFill>
                <a:latin typeface="Montserrat"/>
              </a:rPr>
              <a:t>Состав</a:t>
            </a:r>
            <a:r>
              <a:rPr sz="1400" b="1" dirty="0">
                <a:solidFill>
                  <a:srgbClr val="1C1D22"/>
                </a:solidFill>
                <a:latin typeface="Montserrat"/>
              </a:rPr>
              <a:t>: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два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разработчика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и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системный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аналитик</a:t>
            </a:r>
            <a:endParaRPr sz="1400" b="0" dirty="0">
              <a:solidFill>
                <a:srgbClr val="1C1D22"/>
              </a:solidFill>
              <a:latin typeface="Montserrat"/>
            </a:endParaRPr>
          </a:p>
          <a:p>
            <a:pPr marL="200025" indent="-200025" algn="l">
              <a:spcAft>
                <a:spcPts val="600"/>
              </a:spcAft>
              <a:buClr>
                <a:srgbClr val="FF0053"/>
              </a:buClr>
              <a:buFont typeface="Arial"/>
              <a:buChar char="•"/>
            </a:pPr>
            <a:r>
              <a:rPr sz="1400" b="1" dirty="0" err="1">
                <a:solidFill>
                  <a:srgbClr val="1C1D22"/>
                </a:solidFill>
                <a:latin typeface="Montserrat"/>
              </a:rPr>
              <a:t>Город</a:t>
            </a:r>
            <a:r>
              <a:rPr sz="1400" b="1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1" dirty="0" err="1">
                <a:solidFill>
                  <a:srgbClr val="1C1D22"/>
                </a:solidFill>
                <a:latin typeface="Montserrat"/>
              </a:rPr>
              <a:t>и</a:t>
            </a:r>
            <a:r>
              <a:rPr sz="1400" b="1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1" dirty="0" err="1">
                <a:solidFill>
                  <a:srgbClr val="1C1D22"/>
                </a:solidFill>
                <a:latin typeface="Montserrat"/>
              </a:rPr>
              <a:t>регион</a:t>
            </a:r>
            <a:r>
              <a:rPr sz="1400" b="1" dirty="0">
                <a:solidFill>
                  <a:srgbClr val="1C1D22"/>
                </a:solidFill>
                <a:latin typeface="Montserrat"/>
              </a:rPr>
              <a:t>: </a:t>
            </a:r>
            <a:r>
              <a:rPr lang="ru-RU" sz="1400" dirty="0">
                <a:solidFill>
                  <a:srgbClr val="1C1D22"/>
                </a:solidFill>
                <a:latin typeface="Montserrat"/>
              </a:rPr>
              <a:t>Москва</a:t>
            </a:r>
            <a:endParaRPr sz="1400" b="0" dirty="0">
              <a:solidFill>
                <a:srgbClr val="1C1D22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Разработчик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</a:rPr>
              <a:t>@LaimOr127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+79164313055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Московский политех, ИАС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Алексей </a:t>
            </a:r>
            <a:r>
              <a:rPr lang="ru-RU" sz="1600" b="1" dirty="0" err="1">
                <a:solidFill>
                  <a:schemeClr val="accent5"/>
                </a:solidFill>
              </a:rPr>
              <a:t>Припадчев</a:t>
            </a:r>
            <a:endParaRPr lang="ru-RU" sz="1600" b="1" dirty="0">
              <a:solidFill>
                <a:schemeClr val="accent5"/>
              </a:solidFill>
            </a:endParaRP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Разработчик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</a:rPr>
              <a:t>@</a:t>
            </a:r>
            <a:r>
              <a:rPr lang="en-GB" sz="1200" dirty="0" err="1">
                <a:solidFill>
                  <a:schemeClr val="tx1"/>
                </a:solidFill>
              </a:rPr>
              <a:t>Stas_Marchuk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+79153126043</a:t>
            </a:r>
          </a:p>
          <a:p>
            <a:pPr marL="0" indent="0" fontAlgn="base">
              <a:spcBef>
                <a:spcPts val="600"/>
              </a:spcBef>
              <a:buNone/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Станислав Марчук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Системный аналитик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</a:t>
            </a:r>
            <a:r>
              <a:rPr lang="en-US" sz="1200" dirty="0" err="1">
                <a:solidFill>
                  <a:schemeClr val="tx1"/>
                </a:solidFill>
              </a:rPr>
              <a:t>vkvrtv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+79250990322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Московский политех, ДИТ Москвы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Виктория Вертаева</a:t>
            </a: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195681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01AD4D0-0883-97F4-EF5E-184A94A0CBA9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40" b="16940"/>
          <a:stretch>
            <a:fillRect/>
          </a:stretch>
        </p:blipFill>
        <p:spPr>
          <a:xfrm>
            <a:off x="2886075" y="1827213"/>
            <a:ext cx="1722438" cy="1541462"/>
          </a:xfrm>
          <a:prstGeom prst="rect">
            <a:avLst/>
          </a:prstGeom>
        </p:spPr>
      </p:pic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8087B8B0-648A-88E0-B345-F3295FF45B21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60" b="16060"/>
          <a:stretch>
            <a:fillRect/>
          </a:stretch>
        </p:blipFill>
        <p:spPr>
          <a:xfrm>
            <a:off x="7519988" y="1809750"/>
            <a:ext cx="1722437" cy="1558925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t>КОМАНДА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416966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t>О КОМАНДЕ И ЗАДАЧЕ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9966960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Три человека: два разработчика и системный аналитик. Ранее принимали участие в хакатоне для мессенджера </a:t>
            </a:r>
            <a:r>
              <a:rPr lang="en-US" dirty="0">
                <a:solidFill>
                  <a:schemeClr val="tx1"/>
                </a:solidFill>
              </a:rPr>
              <a:t>Max – </a:t>
            </a:r>
            <a:r>
              <a:rPr lang="ru-RU" dirty="0">
                <a:solidFill>
                  <a:schemeClr val="tx1"/>
                </a:solidFill>
              </a:rPr>
              <a:t>поняли, что вместе можем делать классные решения, решили попробовать 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4919472"/>
            <a:ext cx="9966960" cy="13716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Тест на стажёра проходили случайные ответы — в 52 % попыток. Ввели минимум верных ответов и пересобрали уровни заданий: стало 1,3 %.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API ФСП не выдаётся — сделали отдельный сервис-заглушку и клиент, который заменяется на настоящий без переделки остального кода.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Эталонной разметки нет — построили синтетическую выборку со скрытым настоящим уровнем и считаем метрики одной командой.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36576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сложностями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9966960" cy="82296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Здесь квалификацию подтверждает проверка, а не резюме. Нам было интересно спроектировать саму механику: тест, устойчивый к утечке заданий, и подбор, который может объяснить каждое место в выдаче.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" y="2011680"/>
            <a:ext cx="4937760" cy="4023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FastAPI, PostgreSQL 16 и React 19 в Docker Compose; запуск одной командой</a:t>
            </a: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Тест на грейд: банк из 114 параметрических шаблонов, уровень оценивает модель IRT</a:t>
            </a: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Подбор: группа по категории из теста, внутри — тест и ФСП; место объясняется одной строкой</a:t>
            </a: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ФИО и контакты зашифрованы, чужие строки отсекает сама база</a:t>
            </a: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112 методов API с описанием OpenAPI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2011680"/>
            <a:ext cx="4937760" cy="4023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Работодатель получает готовую категорию проверенных кандидатов вместо потока откликов</a:t>
            </a: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Кандидат видит вилку зарплаты до начала общения</a:t>
            </a: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Участник ФСП превращает спортивные результаты в преимущество при найме</a:t>
            </a: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Дальше: реальный ФСП ID, проверка компаний, интеграция с ATS работодателей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6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>
                <a:solidFill>
                  <a:srgbClr val="520977"/>
                </a:solidFill>
              </a:rPr>
              <a:t>ЧТО НЕ ТАК С ПОИСКОМ РАБОТЫ В ИТ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173736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331720"/>
            <a:ext cx="288036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Резюме не подтверждает навыки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200400"/>
            <a:ext cx="2880360" cy="2743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C1D22"/>
                </a:solidFill>
                <a:latin typeface="Montserrat"/>
              </a:rPr>
              <a:t>В резюме указаны стек и места работы, но не видно, что человек умеет на практике. Отбор сводится к совпадению ключевых слов.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173736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2331720"/>
            <a:ext cx="297180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Работодатель тонет в откликах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3200400"/>
            <a:ext cx="2971800" cy="2743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C1D22"/>
                </a:solidFill>
                <a:latin typeface="Montserrat"/>
              </a:rPr>
              <a:t>Сотни нерелевантных откликов вручную разбирают дорогие технические специалисты.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7072" y="173736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072" y="2331720"/>
            <a:ext cx="288036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Кандидат откликается вслепую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7072" y="3200400"/>
            <a:ext cx="2880360" cy="2743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C1D22"/>
                </a:solidFill>
                <a:latin typeface="Montserrat"/>
              </a:rPr>
              <a:t>Условия неизвестны заранее, обратной связи нет. Издержки несут обе стороны, а результат подбора слабый.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557784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7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ОБРАТНАЯ МЕХАНИКА ПОДБОРА</a:t>
            </a:r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292608" y="1463040"/>
            <a:ext cx="2615184" cy="10633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dirty="0" err="1">
                <a:solidFill>
                  <a:srgbClr val="FF0053"/>
                </a:solidFill>
                <a:latin typeface="Montserrat"/>
              </a:rPr>
              <a:t>Профиль</a:t>
            </a:r>
            <a:endParaRPr sz="1500" b="1" dirty="0">
              <a:solidFill>
                <a:srgbClr val="FF0053"/>
              </a:solidFill>
              <a:latin typeface="Montserrat"/>
            </a:endParaRPr>
          </a:p>
          <a:p>
            <a:pPr algn="l">
              <a:spcAft>
                <a:spcPts val="0"/>
              </a:spcAft>
            </a:pPr>
            <a:r>
              <a:rPr sz="1200" b="0" dirty="0" err="1">
                <a:solidFill>
                  <a:srgbClr val="1C1D22"/>
                </a:solidFill>
                <a:latin typeface="Montserrat"/>
              </a:rPr>
              <a:t>Регистрация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lang="ru-RU" sz="1200" b="0" dirty="0">
                <a:solidFill>
                  <a:srgbClr val="1C1D22"/>
                </a:solidFill>
                <a:latin typeface="Montserrat"/>
              </a:rPr>
              <a:t>с подтверждением почты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;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профиль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вручную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или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из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 PDF-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резюме</a:t>
            </a:r>
            <a:endParaRPr sz="1200" b="0" dirty="0">
              <a:solidFill>
                <a:srgbClr val="1C1D22"/>
              </a:solidFill>
              <a:latin typeface="Montserrat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578608" y="4919472"/>
            <a:ext cx="2615184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Опрос и тест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Специализация, грейд, 15 заданий за 25 минут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54880" y="1463040"/>
            <a:ext cx="2615184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Категория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Специализация и подтверждённый грейд; анонимная карточка в каталоге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9168" y="4882896"/>
            <a:ext cx="2615184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Приглашение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Работодатель находит кандидата и приглашает с вилкой зарплаты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08007" y="1463040"/>
            <a:ext cx="2615184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Контакт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Кандидат принял — компания видит контакты; дальше собеседование и оффер</a:t>
            </a:r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968496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КАБИНЕТ КАНДИДАТА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621792" y="1600200"/>
            <a:ext cx="4846320" cy="4389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520977"/>
                </a:solidFill>
                <a:latin typeface="Montserrat"/>
              </a:rPr>
              <a:t>Что умеет кабинет</a:t>
            </a: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Профиль: вручную, из PDF- или DOCX-резюме, из анкеты ФСП</a:t>
            </a: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Тест на грейд и история попыток</a:t>
            </a: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Приглашения с вилкой зарплаты: принять или отклонить</a:t>
            </a: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Лента вакансий и свои отклики со статусами</a:t>
            </a: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Собеседования и офферы</a:t>
            </a:r>
          </a:p>
          <a:p>
            <a:pPr marL="200025" indent="-200025" algn="l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sz="1500" b="0">
                <a:solidFill>
                  <a:srgbClr val="1C1D22"/>
                </a:solidFill>
                <a:latin typeface="Montserrat"/>
              </a:rPr>
              <a:t>Радар зарплат и навыки для следующего грейда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1399032"/>
            <a:ext cx="5532120" cy="7315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520977"/>
                </a:solidFill>
                <a:latin typeface="Montserrat"/>
              </a:rPr>
              <a:t>Приватность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Кандидат решает, показывать ли зарплатные ожидания, достижения ФСП и раздел «о себе»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2414016"/>
            <a:ext cx="5532120" cy="7315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520977"/>
                </a:solidFill>
                <a:latin typeface="Montserrat"/>
              </a:rPr>
              <a:t>Согласие и удаление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Согласие на обработку данных при регистрации, плашка cookie на сайте; аккаунт удаляется по паролю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419856"/>
            <a:ext cx="5532120" cy="7315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520977"/>
                </a:solidFill>
                <a:latin typeface="Montserrat"/>
              </a:rPr>
              <a:t>Профиль в PDF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Стандартизированный профиль печатается одной кнопкой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4434840"/>
            <a:ext cx="5532120" cy="7315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520977"/>
                </a:solidFill>
                <a:latin typeface="Montserrat"/>
              </a:rPr>
              <a:t>Паспорт навыков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Подписанный снимок грейда и навыков с публичной ссылкой и QR-кодом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5449824"/>
            <a:ext cx="5532120" cy="7315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520977"/>
                </a:solidFill>
                <a:latin typeface="Montserrat"/>
              </a:rPr>
              <a:t>Только свои данные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Кандидат видит лишь свои приглашения и отклики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4572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КАБИНЕТ РАБОТОДАТЕЛЯ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521207" y="169164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7" y="2286000"/>
            <a:ext cx="233172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Потребность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3017520"/>
            <a:ext cx="2331720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Вакансия или запрос: специализация, грейд, стек, формат, город, вилка. Подсказка рынка показывает, сколько кандидатов подходит.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5576" y="169164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65576" y="2286000"/>
            <a:ext cx="233172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Каталог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65576" y="3017520"/>
            <a:ext cx="2331720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Матрица 7 специализаций на 5 грейдов. Анонимные карточки, фильтры по стеку, городу и ФСП; фильтр грейда — только подтверждённый тестом. Строка «почему» объясняет место в выдаче.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69164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286000"/>
            <a:ext cx="233172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Приглашение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017520"/>
            <a:ext cx="2331720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Конкретному кандидату, без обязательной вакансии. Вилка зарплаты и способ связи обязательны. Статус видят обе стороны.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8" y="169164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2286000"/>
            <a:ext cx="233172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Контакт и найм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3017520"/>
            <a:ext cx="2331720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Контакты открываются после согласия кандидата, каждое раскрытие пишется в журнал. Дальше — слоты собеседования и оффер.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477316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МЕХАНИКА ТЕСТИРОВАНИЯ</a:t>
            </a:r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40080" y="3200400"/>
            <a:ext cx="3310128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Банк шаблонов, а не список вопросов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114 параметрических шаблонов. Числа, формулировки и варианты ответов подставляются при каждой генерации: из 200 генераций одного шаблона получается 176 разных заданий (медиана).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35424" y="3200400"/>
            <a:ext cx="3310128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Оценка уровня, а не процент верных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15 заданий разной сложности за 25 минут. Статистическая модель IRT (3PL) оценивает уровень кандидата; тест сдан, если уровень не ниже порога грейда.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39912" y="3200400"/>
            <a:ext cx="3310128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Правила попыток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Не сдал — сразу доступен тест на грейд ниже; этот грейд и выше закрыты на 14 дней. Сдал уверенно — можно пробовать выше. Подтверждённый грейд меняется не чаще раза в 90 дней.</a:t>
            </a:r>
          </a:p>
        </p:txBody>
      </p: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477316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11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ПРОВЕРКА ТЕСТИРОВАНИЯ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0" y="1097280"/>
            <a:ext cx="1124712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5B66"/>
                </a:solidFill>
                <a:latin typeface="Montserrat"/>
              </a:rPr>
              <a:t>1000 синтетических кандидатов со скрытым настоящим уровнем; расчёт воспроизводится одной командой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481328"/>
            <a:ext cx="269748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0053"/>
                </a:solidFill>
                <a:latin typeface="Montserrat"/>
              </a:rPr>
              <a:t>65,6 %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176272"/>
            <a:ext cx="256032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грейд по тесту совпал с настоящим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0128" y="1481328"/>
            <a:ext cx="269748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0053"/>
                </a:solidFill>
                <a:latin typeface="Montserrat"/>
              </a:rPr>
              <a:t>94,7 %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2176272"/>
            <a:ext cx="256032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ошибка не больше одного грейда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3056" y="1481328"/>
            <a:ext cx="269748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0053"/>
                </a:solidFill>
                <a:latin typeface="Montserrat"/>
              </a:rPr>
              <a:t>5,9 %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63056" y="2176272"/>
            <a:ext cx="256032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грейд завышен; занижен у 28,5 %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1481328"/>
            <a:ext cx="269748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0053"/>
                </a:solidFill>
                <a:latin typeface="Montserrat"/>
              </a:rPr>
              <a:t>0,83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5984" y="2176272"/>
            <a:ext cx="256032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корреляция оценок в двух независимых тестах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26080"/>
            <a:ext cx="566928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20977"/>
                </a:solidFill>
                <a:latin typeface="Montserrat"/>
              </a:rPr>
              <a:t>Тест Middle: доля верных ответов по настоящему грейду, %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365760" y="3246120"/>
          <a:ext cx="57607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6400800" y="2926080"/>
            <a:ext cx="544068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3035808"/>
            <a:ext cx="5074920" cy="1371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20977"/>
                </a:solidFill>
                <a:latin typeface="Montserrat"/>
              </a:rPr>
              <a:t>Утечка заданий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Слабый кандидат с ответами 20 утёкших тестов сдаёт Middle в 24,3 % случаев, без них — в 15,3 %. При едином тесте для всех было бы 100 %.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663440"/>
            <a:ext cx="544068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4773168"/>
            <a:ext cx="5074920" cy="1371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20977"/>
                </a:solidFill>
                <a:latin typeface="Montserrat"/>
              </a:rPr>
              <a:t>Случайные ответы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Тест на стажёра наугад проходят 1,3 % попыток; до доработки было 52 %. На Junior и выше — 0–0,1 %.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37673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12</a:t>
            </a:fld>
            <a:endParaRPr lang="ru-RU" dirty="0">
              <a:solidFill>
                <a:schemeClr val="accent5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23BDA4A7-21AE-4EEC-8367-DB38D1BA31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6028303"/>
              </p:ext>
            </p:extLst>
          </p:nvPr>
        </p:nvGraphicFramePr>
        <p:xfrm>
          <a:off x="108488" y="1661465"/>
          <a:ext cx="8896028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МЕХАНИКА ПОДБОРА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108488" y="1442009"/>
            <a:ext cx="57607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520977"/>
                </a:solidFill>
                <a:latin typeface="Montserrat"/>
              </a:rPr>
              <a:t>Место внутри категории — сила профиля, баллов из 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4434" y="1442009"/>
            <a:ext cx="3738191" cy="901785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dirty="0" err="1">
                <a:solidFill>
                  <a:srgbClr val="FF0053"/>
                </a:solidFill>
                <a:latin typeface="Montserrat"/>
              </a:rPr>
              <a:t>Сначала — категория из теста</a:t>
            </a:r>
            <a:endParaRPr sz="1500" b="1" dirty="0">
              <a:solidFill>
                <a:srgbClr val="FF0053"/>
              </a:solidFill>
              <a:latin typeface="Montserrat"/>
            </a:endParaRPr>
          </a:p>
          <a:p>
            <a:pPr algn="l">
              <a:spcAft>
                <a:spcPts val="0"/>
              </a:spcAft>
            </a:pPr>
            <a:r>
              <a:rPr sz="1250" b="0" dirty="0" err="1">
                <a:solidFill>
                  <a:srgbClr val="1C1D22"/>
                </a:solidFill>
                <a:latin typeface="Montserrat"/>
              </a:rPr>
              <a:t>Группу задаёт подтверждённый грейд против грейда вакансии: совпадает, на ступень рядом или далеко.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4434" y="2694737"/>
            <a:ext cx="3738192" cy="901785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dirty="0" err="1">
                <a:solidFill>
                  <a:srgbClr val="520977"/>
                </a:solidFill>
                <a:latin typeface="Montserrat"/>
              </a:rPr>
              <a:t>Внутри — тест и ФСП</a:t>
            </a:r>
            <a:endParaRPr sz="1500" b="1" dirty="0">
              <a:solidFill>
                <a:srgbClr val="520977"/>
              </a:solidFill>
              <a:latin typeface="Montserrat"/>
            </a:endParaRPr>
          </a:p>
          <a:p>
            <a:pPr algn="l">
              <a:spcAft>
                <a:spcPts val="0"/>
              </a:spcAft>
            </a:pPr>
            <a:r>
              <a:rPr sz="1250" b="0" dirty="0" err="1">
                <a:solidFill>
                  <a:srgbClr val="1C1D22"/>
                </a:solidFill>
                <a:latin typeface="Montserrat"/>
              </a:rPr>
              <a:t>Неподтверждённые кандидаты видны, но всегда ниже подтверждённых.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4434" y="3947465"/>
            <a:ext cx="3738192" cy="709425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dirty="0">
                <a:solidFill>
                  <a:srgbClr val="8A83D1"/>
                </a:solidFill>
                <a:latin typeface="Montserrat"/>
              </a:rPr>
              <a:t>Стек — фильтр, а не вес</a:t>
            </a:r>
          </a:p>
          <a:p>
            <a:pPr algn="l">
              <a:spcAft>
                <a:spcPts val="0"/>
              </a:spcAft>
            </a:pPr>
            <a:r>
              <a:rPr sz="1250" b="0" dirty="0" err="1">
                <a:solidFill>
                  <a:srgbClr val="1C1D22"/>
                </a:solidFill>
                <a:latin typeface="Montserrat"/>
              </a:rPr>
              <a:t>Стек, формат, город и зарплата — «для сведения», порядок не меняют.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4434" y="5148846"/>
            <a:ext cx="3738192" cy="709425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dirty="0" err="1">
                <a:solidFill>
                  <a:srgbClr val="FF0053"/>
                </a:solidFill>
                <a:latin typeface="Montserrat"/>
              </a:rPr>
              <a:t>Одна строка «почему»</a:t>
            </a:r>
            <a:endParaRPr sz="1500" b="1" dirty="0">
              <a:solidFill>
                <a:srgbClr val="FF0053"/>
              </a:solidFill>
              <a:latin typeface="Montserrat"/>
            </a:endParaRPr>
          </a:p>
          <a:p>
            <a:pPr algn="l">
              <a:spcAft>
                <a:spcPts val="0"/>
              </a:spcAft>
            </a:pPr>
            <a:r>
              <a:rPr sz="1250" b="0" dirty="0" err="1">
                <a:solidFill>
                  <a:srgbClr val="1C1D22"/>
                </a:solidFill>
                <a:latin typeface="Montserrat"/>
              </a:rPr>
              <a:t>Под оценкой — полной фразой, почему кандидат на этом месте.</a:t>
            </a:r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37673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13</a:t>
            </a:fld>
            <a:endParaRPr lang="ru-RU" dirty="0"/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485138"/>
              </p:ext>
            </p:extLst>
          </p:nvPr>
        </p:nvGraphicFramePr>
        <p:xfrm>
          <a:off x="346075" y="1424510"/>
          <a:ext cx="5749925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3675888" cy="376138"/>
          </a:xfrm>
        </p:spPr>
        <p:txBody>
          <a:bodyPr/>
          <a:lstStyle/>
          <a:p>
            <a:r>
              <a:t>ПРОВЕРКА ПОДБОРА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411480" y="5715000"/>
            <a:ext cx="566928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ontserrat"/>
              </a:rPr>
              <a:t>40 вакансий и 1000 синтетических кандидатов, разметка — по скрытому настоящему уровню. На трёх выборках P@10: 73,8–76,2 % против 54,5–66,2 % по резюме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024128"/>
            <a:ext cx="5120640" cy="14630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73,8 % против 66,2 %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Доля точно подходящих кандидатов в первой десятке: IT Match и выдача по резюме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944368"/>
            <a:ext cx="5120640" cy="14630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dirty="0">
                <a:solidFill>
                  <a:srgbClr val="FF0053"/>
                </a:solidFill>
                <a:latin typeface="Montserrat"/>
              </a:rPr>
              <a:t>0,83 против 0,77</a:t>
            </a:r>
          </a:p>
          <a:p>
            <a:pPr algn="l">
              <a:spcAft>
                <a:spcPts val="0"/>
              </a:spcAft>
            </a:pPr>
            <a:r>
              <a:rPr sz="1250" b="0" dirty="0" err="1">
                <a:solidFill>
                  <a:srgbClr val="1C1D22"/>
                </a:solidFill>
                <a:latin typeface="Montserrat"/>
              </a:rPr>
              <a:t>Качество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50" b="0" dirty="0" err="1">
                <a:solidFill>
                  <a:srgbClr val="1C1D22"/>
                </a:solidFill>
                <a:latin typeface="Montserrat"/>
              </a:rPr>
              <a:t>порядка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50" b="0" dirty="0" err="1">
                <a:solidFill>
                  <a:srgbClr val="1C1D22"/>
                </a:solidFill>
                <a:latin typeface="Montserrat"/>
              </a:rPr>
              <a:t>в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50" b="0" dirty="0" err="1">
                <a:solidFill>
                  <a:srgbClr val="1C1D22"/>
                </a:solidFill>
                <a:latin typeface="Montserrat"/>
              </a:rPr>
              <a:t>первой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50" b="0" dirty="0" err="1">
                <a:solidFill>
                  <a:srgbClr val="1C1D22"/>
                </a:solidFill>
                <a:latin typeface="Montserrat"/>
              </a:rPr>
              <a:t>десятке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 (nDCG@10)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855464"/>
            <a:ext cx="5120640" cy="14630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6,0 % против 28 %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Переоценённые в первой десятке: настоящий грейд ниже, чем нужен вакансии</a:t>
            </a:r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673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t>ИНТЕГРАЦИЯ С ФСП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Как привязывается профиль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Что это даёт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" y="2011680"/>
            <a:ext cx="4937760" cy="4114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00025" indent="-200025" algn="l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sz="1450" b="0">
                <a:solidFill>
                  <a:srgbClr val="1C1D22"/>
                </a:solidFill>
                <a:latin typeface="Montserrat"/>
              </a:rPr>
              <a:t>Кандидат вводит ID участника ФСП</a:t>
            </a:r>
          </a:p>
          <a:p>
            <a:pPr marL="200025" indent="-200025" algn="l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sz="1450" b="0">
                <a:solidFill>
                  <a:srgbClr val="1C1D22"/>
                </a:solidFill>
                <a:latin typeface="Montserrat"/>
              </a:rPr>
              <a:t>Код подтверждения приходит владельцу аккаунта ФСП: 10 минут, 5 попыток. На демо-стенде код показан на экране с пометкой «демо»</a:t>
            </a:r>
          </a:p>
          <a:p>
            <a:pPr marL="200025" indent="-200025" algn="l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sz="1450" b="0">
                <a:solidFill>
                  <a:srgbClr val="1C1D22"/>
                </a:solidFill>
                <a:latin typeface="Montserrat"/>
              </a:rPr>
              <a:t>Достижения загружаются и обновляются в фоне</a:t>
            </a:r>
          </a:p>
          <a:p>
            <a:pPr marL="200025" indent="-200025" algn="l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sz="1450" b="0">
                <a:solidFill>
                  <a:srgbClr val="1C1D22"/>
                </a:solidFill>
                <a:latin typeface="Montserrat"/>
              </a:rPr>
              <a:t>Один аккаунт ФСП — один профиль</a:t>
            </a:r>
          </a:p>
          <a:p>
            <a:pPr marL="200025" indent="-200025" algn="l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sz="1450" b="0">
                <a:solidFill>
                  <a:srgbClr val="1C1D22"/>
                </a:solidFill>
                <a:latin typeface="Montserrat"/>
              </a:rPr>
              <a:t>API ФСП не выдаётся, поэтому работает сервис-заглушка; настоящий API подключается заменой одного клиента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2011680"/>
            <a:ext cx="4937760" cy="4114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00025" indent="-200025" algn="l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sz="1450" b="0">
                <a:solidFill>
                  <a:srgbClr val="1C1D22"/>
                </a:solidFill>
                <a:latin typeface="Montserrat"/>
              </a:rPr>
              <a:t>Уровень в каждой дисциплине — базовый, продвинутый, элитный — по числу призовых мест и финалов</a:t>
            </a:r>
          </a:p>
          <a:p>
            <a:pPr marL="200025" indent="-200025" algn="l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sz="1450" b="0">
                <a:solidFill>
                  <a:srgbClr val="1C1D22"/>
                </a:solidFill>
                <a:latin typeface="Montserrat"/>
              </a:rPr>
              <a:t>Дисциплины между собой не сравниваются</a:t>
            </a:r>
          </a:p>
          <a:p>
            <a:pPr marL="200025" indent="-200025" algn="l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sz="1450" b="0">
                <a:solidFill>
                  <a:srgbClr val="1C1D22"/>
                </a:solidFill>
                <a:latin typeface="Montserrat"/>
              </a:rPr>
              <a:t>Работодатель видит уровень без ID и названий соревнований; есть фильтр «только с ФСП»</a:t>
            </a:r>
          </a:p>
          <a:p>
            <a:pPr marL="200025" indent="-200025" algn="l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sz="1450" b="0">
                <a:solidFill>
                  <a:srgbClr val="1C1D22"/>
                </a:solidFill>
                <a:latin typeface="Montserrat"/>
              </a:rPr>
              <a:t>Нет истории ФСП — кандидат проходит тот же путь и попадает в каталог, просто без надбавки</a:t>
            </a:r>
          </a:p>
          <a:p>
            <a:pPr marL="200025" indent="-200025" algn="l"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sz="1450" b="0">
                <a:solidFill>
                  <a:srgbClr val="1C1D22"/>
                </a:solidFill>
                <a:latin typeface="Montserrat"/>
              </a:rPr>
              <a:t>Паспорт навыков: подписанный документ с публичной ссылкой и QR-кодом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t>АРХИТЕКТУРА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743200" y="1536192"/>
            <a:ext cx="27432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0" y="1536192"/>
            <a:ext cx="2743200" cy="65836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D1451"/>
                </a:solidFill>
                <a:latin typeface="Montserrat"/>
              </a:rPr>
              <a:t>Браузер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A5B66"/>
                </a:solidFill>
                <a:latin typeface="Montserrat"/>
              </a:rPr>
              <a:t>React-приложение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2606040"/>
            <a:ext cx="42062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11680" y="2606040"/>
            <a:ext cx="4206240" cy="65836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D1451"/>
                </a:solidFill>
                <a:latin typeface="Montserrat"/>
              </a:rPr>
              <a:t>proxy · Caddy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A5B66"/>
                </a:solidFill>
                <a:latin typeface="Montserrat"/>
              </a:rPr>
              <a:t>HTTPS, заголовки защиты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703320"/>
            <a:ext cx="21488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3703320"/>
            <a:ext cx="2148840" cy="86868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D1451"/>
                </a:solidFill>
                <a:latin typeface="Montserrat"/>
              </a:rPr>
              <a:t>web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A5B66"/>
                </a:solidFill>
                <a:latin typeface="Montserrat"/>
              </a:rPr>
              <a:t>готовые файлы фронтенда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4952" y="3703320"/>
            <a:ext cx="2148840" cy="868680"/>
          </a:xfrm>
          <a:prstGeom prst="roundRect">
            <a:avLst>
              <a:gd name="adj" fmla="val 12000"/>
            </a:avLst>
          </a:prstGeom>
          <a:solidFill>
            <a:srgbClr val="FFD6E3"/>
          </a:solidFill>
          <a:ln w="2540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44952" y="3703320"/>
            <a:ext cx="2148840" cy="86868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D1451"/>
                </a:solidFill>
                <a:latin typeface="Montserrat"/>
              </a:rPr>
              <a:t>api · FastAPI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A5B66"/>
                </a:solidFill>
                <a:latin typeface="Montserrat"/>
              </a:rPr>
              <a:t>логика и проверка прав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94960" y="3703320"/>
            <a:ext cx="21488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94960" y="3703320"/>
            <a:ext cx="2148840" cy="86868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D1451"/>
                </a:solidFill>
                <a:latin typeface="Montserrat"/>
              </a:rPr>
              <a:t>fsp-mock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A5B66"/>
                </a:solidFill>
                <a:latin typeface="Montserrat"/>
              </a:rPr>
              <a:t>заглушка ФСП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074920"/>
            <a:ext cx="21488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5074920"/>
            <a:ext cx="2148840" cy="86868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D1451"/>
                </a:solidFill>
                <a:latin typeface="Montserrat"/>
              </a:rPr>
              <a:t>db · PostgreSQL 16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A5B66"/>
                </a:solidFill>
                <a:latin typeface="Montserrat"/>
              </a:rPr>
              <a:t>30 таблиц, защита строк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44952" y="5074920"/>
            <a:ext cx="21488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044952" y="5074920"/>
            <a:ext cx="2148840" cy="86868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D1451"/>
                </a:solidFill>
                <a:latin typeface="Montserrat"/>
              </a:rPr>
              <a:t>worker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A5B66"/>
                </a:solidFill>
                <a:latin typeface="Montserrat"/>
              </a:rPr>
              <a:t>письма, сроки, ФСП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60" y="5074920"/>
            <a:ext cx="21488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20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94960" y="5074920"/>
            <a:ext cx="2148840" cy="86868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D1451"/>
                </a:solidFill>
                <a:latin typeface="Montserrat"/>
              </a:rPr>
              <a:t>Почта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A5B66"/>
                </a:solidFill>
                <a:latin typeface="Montserrat"/>
              </a:rPr>
              <a:t>SMTP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114800" y="2194560"/>
            <a:ext cx="0" cy="411480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114800" y="3264408"/>
            <a:ext cx="0" cy="438912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783080" y="3264408"/>
            <a:ext cx="868680" cy="438912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193792" y="4133087"/>
            <a:ext cx="201168" cy="0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2377440" y="4572000"/>
            <a:ext cx="914400" cy="502920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2834640" y="5504688"/>
            <a:ext cx="210312" cy="0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193792" y="5504688"/>
            <a:ext cx="201168" cy="0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937760" y="4572000"/>
            <a:ext cx="914400" cy="502920"/>
          </a:xfrm>
          <a:prstGeom prst="line">
            <a:avLst/>
          </a:prstGeom>
          <a:ln w="15875">
            <a:solidFill>
              <a:srgbClr val="520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001000" y="1600200"/>
            <a:ext cx="3611880" cy="44805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Стек</a:t>
            </a:r>
          </a:p>
          <a:p>
            <a:pPr marL="200025" indent="-200025" algn="l">
              <a:spcAft>
                <a:spcPts val="400"/>
              </a:spcAft>
              <a:buClr>
                <a:srgbClr val="FF0053"/>
              </a:buClr>
              <a:buFont typeface="Arial"/>
              <a:buChar char="•"/>
            </a:pPr>
            <a:r>
              <a:rPr sz="1250" b="0">
                <a:solidFill>
                  <a:srgbClr val="1C1D22"/>
                </a:solidFill>
                <a:latin typeface="Montserrat"/>
              </a:rPr>
              <a:t>Python 3.12, FastAPI, SQLAlchemy</a:t>
            </a:r>
          </a:p>
          <a:p>
            <a:pPr marL="200025" indent="-200025" algn="l">
              <a:spcAft>
                <a:spcPts val="400"/>
              </a:spcAft>
              <a:buClr>
                <a:srgbClr val="FF0053"/>
              </a:buClr>
              <a:buFont typeface="Arial"/>
              <a:buChar char="•"/>
            </a:pPr>
            <a:r>
              <a:rPr sz="1250" b="0">
                <a:solidFill>
                  <a:srgbClr val="1C1D22"/>
                </a:solidFill>
                <a:latin typeface="Montserrat"/>
              </a:rPr>
              <a:t>PostgreSQL 16</a:t>
            </a:r>
          </a:p>
          <a:p>
            <a:pPr marL="200025" indent="-200025" algn="l">
              <a:spcAft>
                <a:spcPts val="400"/>
              </a:spcAft>
              <a:buClr>
                <a:srgbClr val="FF0053"/>
              </a:buClr>
              <a:buFont typeface="Arial"/>
              <a:buChar char="•"/>
            </a:pPr>
            <a:r>
              <a:rPr sz="1250" b="0">
                <a:solidFill>
                  <a:srgbClr val="1C1D22"/>
                </a:solidFill>
                <a:latin typeface="Montserrat"/>
              </a:rPr>
              <a:t>React 19, TypeScript, Vite, Tailwind</a:t>
            </a:r>
          </a:p>
          <a:p>
            <a:pPr marL="200025" indent="-200025" algn="l">
              <a:spcAft>
                <a:spcPts val="400"/>
              </a:spcAft>
              <a:buClr>
                <a:srgbClr val="FF0053"/>
              </a:buClr>
              <a:buFont typeface="Arial"/>
              <a:buChar char="•"/>
            </a:pPr>
            <a:r>
              <a:rPr sz="1250" b="0">
                <a:solidFill>
                  <a:srgbClr val="1C1D22"/>
                </a:solidFill>
                <a:latin typeface="Montserrat"/>
              </a:rPr>
              <a:t>Caddy, Docker Compose</a:t>
            </a:r>
          </a:p>
          <a:p>
            <a:pPr algn="l">
              <a:spcAft>
                <a:spcPts val="0"/>
              </a:spcAft>
            </a:pPr>
            <a:r>
              <a:rPr sz="600" b="0">
                <a:solidFill>
                  <a:srgbClr val="1C1D22"/>
                </a:solidFill>
                <a:latin typeface="Montserrat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Как устроено</a:t>
            </a:r>
          </a:p>
          <a:p>
            <a:pPr marL="200025" indent="-200025" algn="l">
              <a:spcAft>
                <a:spcPts val="400"/>
              </a:spcAft>
              <a:buClr>
                <a:srgbClr val="FF0053"/>
              </a:buClr>
              <a:buFont typeface="Arial"/>
              <a:buChar char="•"/>
            </a:pPr>
            <a:r>
              <a:rPr sz="1250" b="0">
                <a:solidFill>
                  <a:srgbClr val="1C1D22"/>
                </a:solidFill>
                <a:latin typeface="Montserrat"/>
              </a:rPr>
              <a:t>Наружу открыт только прокси; база и API — во внутренней сети</a:t>
            </a:r>
          </a:p>
          <a:p>
            <a:pPr marL="200025" indent="-200025" algn="l">
              <a:spcAft>
                <a:spcPts val="400"/>
              </a:spcAft>
              <a:buClr>
                <a:srgbClr val="FF0053"/>
              </a:buClr>
              <a:buFont typeface="Arial"/>
              <a:buChar char="•"/>
            </a:pPr>
            <a:r>
              <a:rPr sz="1250" b="0">
                <a:solidFill>
                  <a:srgbClr val="1C1D22"/>
                </a:solidFill>
                <a:latin typeface="Montserrat"/>
              </a:rPr>
              <a:t>Бэкенд разделён на слои: API, сценарии, доступ к данным</a:t>
            </a:r>
          </a:p>
          <a:p>
            <a:pPr marL="200025" indent="-200025" algn="l">
              <a:spcAft>
                <a:spcPts val="400"/>
              </a:spcAft>
              <a:buClr>
                <a:srgbClr val="FF0053"/>
              </a:buClr>
              <a:buFont typeface="Arial"/>
              <a:buChar char="•"/>
            </a:pPr>
            <a:r>
              <a:rPr sz="1250" b="0">
                <a:solidFill>
                  <a:srgbClr val="1C1D22"/>
                </a:solidFill>
                <a:latin typeface="Montserrat"/>
              </a:rPr>
              <a:t>Каждый сервис — отдельный контейнер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r>
              <a:rPr>
                <a:solidFill>
                  <a:srgbClr val="520977"/>
                </a:solidFill>
              </a:rPr>
              <a:t>ТЕХНИЧЕСКАЯ ПРОРАБОТКА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16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21207" y="1645920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Безопасность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1645920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Пароли — хэш argon2id. Сессия — короткий токен в памяти и сменяемый токен в защищённой cookie. Администратор входит с двухфакторной защитой. Письма уходят по STARTTLS с проверкой сертификата сервера.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" y="2514600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Персональные данные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2514600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ФИО и контакты зашифрованы (AES-256-GCM). База сама отсекает чужие строки: Row Level Security на 18 таблицах. Есть согласие на обработку и удаление аккаунта (152-ФЗ).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" y="3392424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API и документация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392424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112 методов с описанием OpenAPI (Swagger). Документация сверена с кодом; CHANGELOG — что изменили после разбора с экспертами и почему.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4224528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Качество кода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224528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Автотесты бэкенда, фронтенда и заглушки ФСП. На каждую отправку кода — линтер, тесты, аудит зависимостей, поиск секретов по всей истории и сквозной запуск в Docker.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5093207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Запуск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165587"/>
            <a:ext cx="8229600" cy="632481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r>
              <a:rPr sz="1250" b="0" dirty="0" err="1">
                <a:solidFill>
                  <a:srgbClr val="1C1D22"/>
                </a:solidFill>
                <a:latin typeface="Montserrat"/>
              </a:rPr>
              <a:t>Две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50" b="0" dirty="0" err="1">
                <a:solidFill>
                  <a:srgbClr val="1C1D22"/>
                </a:solidFill>
                <a:latin typeface="Montserrat"/>
              </a:rPr>
              <a:t>команды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50" b="0" dirty="0" err="1">
                <a:solidFill>
                  <a:srgbClr val="1C1D22"/>
                </a:solidFill>
                <a:latin typeface="Montserrat"/>
              </a:rPr>
              <a:t>поднимают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50" b="0" dirty="0" err="1">
                <a:solidFill>
                  <a:srgbClr val="1C1D22"/>
                </a:solidFill>
                <a:latin typeface="Montserrat"/>
              </a:rPr>
              <a:t>всё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50" b="0" dirty="0" err="1">
                <a:solidFill>
                  <a:srgbClr val="1C1D22"/>
                </a:solidFill>
                <a:latin typeface="Montserrat"/>
              </a:rPr>
              <a:t>локально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: make env </a:t>
            </a:r>
            <a:r>
              <a:rPr sz="1250" b="0" dirty="0" err="1">
                <a:solidFill>
                  <a:srgbClr val="1C1D22"/>
                </a:solidFill>
                <a:latin typeface="Montserrat"/>
              </a:rPr>
              <a:t>и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 make dev. </a:t>
            </a:r>
            <a:r>
              <a:rPr lang="ru-RU" sz="1250" dirty="0">
                <a:solidFill>
                  <a:srgbClr val="1C1D22"/>
                </a:solidFill>
                <a:latin typeface="Montserrat"/>
              </a:rPr>
              <a:t>Также решение развернуто по адресу </a:t>
            </a:r>
            <a:r>
              <a:rPr lang="en-GB" sz="1250" dirty="0">
                <a:solidFill>
                  <a:srgbClr val="1C1D22"/>
                </a:solidFill>
                <a:latin typeface="Montserrat"/>
              </a:rPr>
              <a:t>https://201-24-62-88.sslip.io</a:t>
            </a:r>
          </a:p>
          <a:p>
            <a:endParaRPr sz="1250" b="0" dirty="0">
              <a:solidFill>
                <a:srgbClr val="1C1D22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>
                <a:solidFill>
                  <a:srgbClr val="520977"/>
                </a:solidFill>
              </a:rPr>
              <a:t>ЦЕННОСТЬ ДЛЯ УЧАСТНИКОВ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173736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331720"/>
            <a:ext cx="288036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Кандидат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017520"/>
            <a:ext cx="2880360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Условия и вилка видны до начала общения. Не нужно рассылать отклики: достаточно один раз подтвердить грейд. Контакты открываются только с согласия.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173736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2331720"/>
            <a:ext cx="297180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Работодатель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3017520"/>
            <a:ext cx="2971800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Готовая категория проверенных специалистов вместо разбора откликов. Понятно, почему кандидат в подборке. Технические специалисты не тратят время на первичный отсев.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7072" y="173736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072" y="2331720"/>
            <a:ext cx="288036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ФСП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7072" y="3017520"/>
            <a:ext cx="2880360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Спортивные результаты участников получают карьерную ценность. У сообщества появляется ещё одна причина участвовать в соревнованиях, у партнёров — доступ к сильным кандидатам.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517550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18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БИЗНЕС-МОДЕЛЬ: ГИПОТЕЗЫ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521207" y="169164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7" y="2286000"/>
            <a:ext cx="233172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Кто платит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3017520"/>
            <a:ext cx="2331720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Работодатель. Для кандидатов и участников ФСП сервис бесплатный.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5576" y="169164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65576" y="2286000"/>
            <a:ext cx="233172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За что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65576" y="3017520"/>
            <a:ext cx="2331720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Подписка на доступ к каталогу или оплата за принятое приглашение. Отметка «Проверенная компания» — отдельная услуга.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69164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286000"/>
            <a:ext cx="233172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Что экономит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017520"/>
            <a:ext cx="2331720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Время технических специалистов на первичный отсев и срок закрытия вакансии: в подборке уже проверенные кандидаты.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8" y="1691640"/>
            <a:ext cx="137160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2286000"/>
            <a:ext cx="2331720" cy="548640"/>
          </a:xfrm>
          <a:prstGeom prst="rect">
            <a:avLst/>
          </a:prstGeom>
          <a:noFill/>
        </p:spPr>
        <p:txBody>
          <a:bodyPr wrap="square" lIns="36576" tIns="27432" rIns="36576" bIns="27432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Как проверить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3017520"/>
            <a:ext cx="2331720" cy="3017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Пилот с компаниями-партнёрами ФСП: измерить долю принятых приглашений и срок до оффера.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497433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19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ЧЕМ ОТЛИЧАЕТСЯ РЕШЕНИЕ</a:t>
            </a:r>
            <a:endParaRPr lang="ru-RU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1280160"/>
          <a:ext cx="11274552" cy="47183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endParaRPr/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Универсальные площадки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IT Match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5209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20977"/>
                          </a:solidFill>
                          <a:latin typeface="Montserrat"/>
                        </a:rPr>
                        <a:t>Кто делает первый шаг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D22"/>
                          </a:solidFill>
                          <a:latin typeface="Montserrat"/>
                        </a:rPr>
                        <a:t>Кандидат откликается на вакансию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D1451"/>
                          </a:solidFill>
                          <a:latin typeface="Montserrat"/>
                        </a:rPr>
                        <a:t>Работодатель приглашает конкретного кандидата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D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20977"/>
                          </a:solidFill>
                          <a:latin typeface="Montserrat"/>
                        </a:rPr>
                        <a:t>Откуда известен уровень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D22"/>
                          </a:solidFill>
                          <a:latin typeface="Montserrat"/>
                        </a:rPr>
                        <a:t>Из самоописания в резюме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D1451"/>
                          </a:solidFill>
                          <a:latin typeface="Montserrat"/>
                        </a:rPr>
                        <a:t>Из теста на заявленный грейд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D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20977"/>
                          </a:solidFill>
                          <a:latin typeface="Montserrat"/>
                        </a:rPr>
                        <a:t>Задания теста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D22"/>
                          </a:solidFill>
                          <a:latin typeface="Montserrat"/>
                        </a:rPr>
                        <a:t>Теста нет или он общий для всех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D1451"/>
                          </a:solidFill>
                          <a:latin typeface="Montserrat"/>
                        </a:rPr>
                        <a:t>У каждого кандидата свой набор заданий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D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20977"/>
                          </a:solidFill>
                          <a:latin typeface="Montserrat"/>
                        </a:rPr>
                        <a:t>Зарплата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D22"/>
                          </a:solidFill>
                          <a:latin typeface="Montserrat"/>
                        </a:rPr>
                        <a:t>Указывать необязательно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D1451"/>
                          </a:solidFill>
                          <a:latin typeface="Montserrat"/>
                        </a:rPr>
                        <a:t>Вилка обязательна в вакансии и приглашении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D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20977"/>
                          </a:solidFill>
                          <a:latin typeface="Montserrat"/>
                        </a:rPr>
                        <a:t>Контакты кандидата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D22"/>
                          </a:solidFill>
                          <a:latin typeface="Montserrat"/>
                        </a:rPr>
                        <a:t>Доступны без его решения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D1451"/>
                          </a:solidFill>
                          <a:latin typeface="Montserrat"/>
                        </a:rPr>
                        <a:t>Открываются только после согласия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D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20977"/>
                          </a:solidFill>
                          <a:latin typeface="Montserrat"/>
                        </a:rPr>
                        <a:t>Соревнования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D22"/>
                          </a:solidFill>
                          <a:latin typeface="Montserrat"/>
                        </a:rPr>
                        <a:t>Строчка в резюме без проверки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D1451"/>
                          </a:solidFill>
                          <a:latin typeface="Montserrat"/>
                        </a:rPr>
                        <a:t>Подтверждённые данные ФСП влияют на место в выдаче</a:t>
                      </a:r>
                    </a:p>
                  </a:txBody>
                  <a:tcPr marL="137160" marR="137160" anchor="ctr">
                    <a:lnL w="6350">
                      <a:solidFill>
                        <a:srgbClr val="D9D3EE"/>
                      </a:solidFill>
                    </a:lnL>
                    <a:lnR w="6350">
                      <a:solidFill>
                        <a:srgbClr val="D9D3EE"/>
                      </a:solidFill>
                    </a:lnR>
                    <a:lnT w="6350">
                      <a:solidFill>
                        <a:srgbClr val="D9D3EE"/>
                      </a:solidFill>
                    </a:lnT>
                    <a:lnB w="6350">
                      <a:solidFill>
                        <a:srgbClr val="D9D3EE"/>
                      </a:solidFill>
                    </a:lnB>
                    <a:solidFill>
                      <a:srgbClr val="FFD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437083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СВЕРХ ОБЯЗАТЕЛЬНОГО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521207" y="1371600"/>
            <a:ext cx="1005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7" y="1408176"/>
            <a:ext cx="4434840" cy="1325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Отклик на вакансии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Кандидат сам откликается на опубликованные вакансии и видит статусы откликов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" y="2980944"/>
            <a:ext cx="1005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7" y="3017520"/>
            <a:ext cx="4434840" cy="1325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Публикация вакансий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Черновик, публикация на 14 дней, продление, входящие отклики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4562856"/>
            <a:ext cx="1005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7" y="4599432"/>
            <a:ext cx="4434840" cy="1325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Короткие задачи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Раз в неделю — задача от компании; ответ анонимный, компания оценивает и приглашает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0488" y="1371600"/>
            <a:ext cx="1005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1408176"/>
            <a:ext cx="4434840" cy="1325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Защита от фиктивных вакансий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Жалобы, модерация, лимиты приглашений, журнал раскрытия контактов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0488" y="2980944"/>
            <a:ext cx="1005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3017520"/>
            <a:ext cx="4434840" cy="1325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Собеседования и офферы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Слоты времени, результат с отзывом, оффер с зарплатой и сроком ответа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0488" y="4562856"/>
            <a:ext cx="100584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FF0053"/>
                </a:solidFill>
                <a:latin typeface="Montserrat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2048" y="4599432"/>
            <a:ext cx="4434840" cy="1325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520977"/>
                </a:solidFill>
                <a:latin typeface="Montserrat"/>
              </a:rPr>
              <a:t>Концепции развития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C1D22"/>
                </a:solidFill>
                <a:latin typeface="Montserrat"/>
              </a:rPr>
              <a:t>Проверка компаний по ЕГРЮЛ, интеграция с ATS, профиль для несовершеннолетних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364992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21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ПЛАНЫ РАЗВИТИЯ</a:t>
            </a:r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292608" y="1463040"/>
            <a:ext cx="2615184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0053"/>
                </a:solidFill>
                <a:latin typeface="Montserrat"/>
              </a:rPr>
              <a:t>Репутация компаний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Жалобы на приглашения и публичный рейтинг отклика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78608" y="4919472"/>
            <a:ext cx="2615184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0053"/>
                </a:solidFill>
                <a:latin typeface="Montserrat"/>
              </a:rPr>
              <a:t>Проверка компаний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Сверка с ЕГРЮЛ и режим «только проверенные»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54880" y="1463040"/>
            <a:ext cx="2615184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0053"/>
                </a:solidFill>
                <a:latin typeface="Montserrat"/>
              </a:rPr>
              <a:t>Реальный ФСП ID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Вход через Keycloak и настоящий реестр достижений вместо заглушки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9168" y="4882896"/>
            <a:ext cx="2615184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0053"/>
                </a:solidFill>
                <a:latin typeface="Montserrat"/>
              </a:rPr>
              <a:t>Интеграция с ATS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C1D22"/>
                </a:solidFill>
                <a:latin typeface="Montserrat"/>
              </a:rPr>
              <a:t>Ключи компаний, уведомления о статусах, коннекторы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08007" y="1463040"/>
            <a:ext cx="2615184" cy="141731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dirty="0" err="1">
                <a:solidFill>
                  <a:srgbClr val="FF0053"/>
                </a:solidFill>
                <a:latin typeface="Montserrat"/>
              </a:rPr>
              <a:t>Рост</a:t>
            </a:r>
            <a:r>
              <a:rPr sz="1400" b="1" dirty="0">
                <a:solidFill>
                  <a:srgbClr val="FF0053"/>
                </a:solidFill>
                <a:latin typeface="Montserrat"/>
              </a:rPr>
              <a:t> </a:t>
            </a:r>
            <a:r>
              <a:rPr sz="1400" b="1" dirty="0" err="1">
                <a:solidFill>
                  <a:srgbClr val="FF0053"/>
                </a:solidFill>
                <a:latin typeface="Montserrat"/>
              </a:rPr>
              <a:t>банка</a:t>
            </a:r>
            <a:r>
              <a:rPr sz="1400" b="1" dirty="0">
                <a:solidFill>
                  <a:srgbClr val="FF0053"/>
                </a:solidFill>
                <a:latin typeface="Montserrat"/>
              </a:rPr>
              <a:t> </a:t>
            </a:r>
            <a:r>
              <a:rPr sz="1400" b="1" dirty="0" err="1">
                <a:solidFill>
                  <a:srgbClr val="FF0053"/>
                </a:solidFill>
                <a:latin typeface="Montserrat"/>
              </a:rPr>
              <a:t>заданий</a:t>
            </a:r>
            <a:endParaRPr sz="1400" b="1" dirty="0">
              <a:solidFill>
                <a:srgbClr val="FF0053"/>
              </a:solidFill>
              <a:latin typeface="Montserrat"/>
            </a:endParaRPr>
          </a:p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1C1D22"/>
                </a:solidFill>
                <a:latin typeface="Montserrat"/>
              </a:rPr>
              <a:t>Новые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специализации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задачи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с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кодом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калибровка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на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реальных</a:t>
            </a:r>
            <a:r>
              <a:rPr sz="12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200" b="0" dirty="0" err="1">
                <a:solidFill>
                  <a:srgbClr val="1C1D22"/>
                </a:solidFill>
                <a:latin typeface="Montserrat"/>
              </a:rPr>
              <a:t>ответах</a:t>
            </a:r>
            <a:r>
              <a:rPr lang="ru-RU" sz="1200" b="0" dirty="0">
                <a:solidFill>
                  <a:srgbClr val="1C1D22"/>
                </a:solidFill>
                <a:latin typeface="Montserrat"/>
              </a:rPr>
              <a:t>. </a:t>
            </a:r>
            <a:r>
              <a:rPr lang="ru-RU" sz="1200" dirty="0">
                <a:solidFill>
                  <a:srgbClr val="1C1D22"/>
                </a:solidFill>
                <a:latin typeface="Montserrat"/>
              </a:rPr>
              <a:t>Также добавление </a:t>
            </a:r>
            <a:r>
              <a:rPr lang="en-US" sz="1200" dirty="0" err="1">
                <a:solidFill>
                  <a:srgbClr val="1C1D22"/>
                </a:solidFill>
                <a:latin typeface="Montserrat"/>
              </a:rPr>
              <a:t>CodeSpace</a:t>
            </a:r>
            <a:r>
              <a:rPr lang="en-US" sz="1200" dirty="0">
                <a:solidFill>
                  <a:srgbClr val="1C1D22"/>
                </a:solidFill>
                <a:latin typeface="Montserrat"/>
              </a:rPr>
              <a:t> </a:t>
            </a:r>
            <a:r>
              <a:rPr lang="ru-RU" sz="1200" dirty="0">
                <a:solidFill>
                  <a:srgbClr val="1C1D22"/>
                </a:solidFill>
                <a:latin typeface="Montserrat"/>
              </a:rPr>
              <a:t>для собеседований и площадка для созвонов</a:t>
            </a:r>
            <a:endParaRPr sz="1200" b="0" dirty="0">
              <a:solidFill>
                <a:srgbClr val="1C1D22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r>
              <a:rPr dirty="0">
                <a:solidFill>
                  <a:srgbClr val="520977"/>
                </a:solidFill>
              </a:rPr>
              <a:t>ДОРАБОТКИ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22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21207" y="1645920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Порядок в каталоге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1645920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Сначала категория по тесту, внутри — тест и ФСП. Стек, формат, город и зарплата больше не двигают кандидата; стек — фильтр. Precision@10 остался в прежнем диапазоне: 73,8–76,2 %.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" y="2514600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Фильтр грейда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2514600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Отбирает только грейд, подтверждённый тестом: подпись фильтра совпадает с выдачей.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" y="3392424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Пример теста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392424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Работодатель видит, как задания следуют за вакансией, но без правильных ответов: их нет ни в интерфейсе, ни в ответе API.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4224528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Объяснение «Почему»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224528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Полными фразами, без устного перевода: «Грейд Middle подтверждён тестом и совпадает с вакансией», «Нет подтверждённых результатов соревнований ФСП».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5093207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Почта и секреты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165587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r>
              <a:rPr sz="1250" b="0" dirty="0" err="1">
                <a:solidFill>
                  <a:srgbClr val="1C1D22"/>
                </a:solidFill>
                <a:latin typeface="Montserrat"/>
              </a:rPr>
              <a:t>Письмо подтверждения реально уходит при регистрации; пароль почты вводится скрыто и проверяется до записи. Проверка gitleaks по всей истории — утечек секретов нет.</a:t>
            </a:r>
          </a:p>
        </p:txBody>
      </p: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r>
              <a:rPr dirty="0">
                <a:solidFill>
                  <a:srgbClr val="520977"/>
                </a:solidFill>
              </a:rPr>
              <a:t>ПРАВИЛА, ЗАЩИТА, ИНТЕРФЕЙС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23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21207" y="1645920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Код ФСП на демо-стенде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1645920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Показан с явной пометкой «Демо-стенд»; в рабочей системе код приходит только по каналу ФСП, в боевом режиме показ выключен.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" y="2514600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Правила видимости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2514600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Записаны в README: вилка видна до согласия, контакты кандидата — только после. Провал теста не понижает грейд; без истории ФСП кандидат остаётся в выдаче.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" y="3392424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Защита почты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392424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STARTTLS проверяет сертификат почтового сервера: пароль от почты больше нельзя перехватить подменой сервера в сети.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4224528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Документация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224528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C1D22"/>
                </a:solidFill>
                <a:latin typeface="Montserrat"/>
              </a:rPr>
              <a:t>README и docs сверены с кодом, цифры оценки обновлены. CHANGELOG описывает каждую доработку: что было, что стало и почему.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5093207"/>
            <a:ext cx="292608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20977"/>
                </a:solidFill>
                <a:latin typeface="Montserrat"/>
              </a:rPr>
              <a:t>Интерфейс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165587"/>
            <a:ext cx="8229600" cy="7772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r>
              <a:rPr sz="1250" b="0" dirty="0" err="1">
                <a:solidFill>
                  <a:srgbClr val="1C1D22"/>
                </a:solidFill>
                <a:latin typeface="Montserrat"/>
              </a:rPr>
              <a:t>Тёмные полосы прокрутки и выпадающие списки в Chrome и Edge на Windows; плашка cookie на главной — сайт использует только обязательные cookie.</a:t>
            </a:r>
          </a:p>
        </p:txBody>
      </p: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24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781233" cy="415925"/>
          </a:xfrm>
        </p:spPr>
        <p:txBody>
          <a:bodyPr/>
          <a:lstStyle/>
          <a:p>
            <a:r>
              <a:rPr>
                <a:solidFill>
                  <a:srgbClr val="520977"/>
                </a:solidFill>
              </a:rPr>
              <a:t>ССЫЛКИ И ДОСТУПЫ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792" y="1188720"/>
            <a:ext cx="4846320" cy="350506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dirty="0" err="1">
                <a:solidFill>
                  <a:srgbClr val="520977"/>
                </a:solidFill>
                <a:latin typeface="Montserrat"/>
              </a:rPr>
              <a:t>Прототип</a:t>
            </a:r>
            <a:endParaRPr sz="1200" b="1" dirty="0">
              <a:solidFill>
                <a:srgbClr val="520977"/>
              </a:solidFill>
              <a:latin typeface="Montserrat"/>
            </a:endParaRPr>
          </a:p>
          <a:p>
            <a:pPr algn="l">
              <a:spcAft>
                <a:spcPts val="900"/>
              </a:spcAft>
            </a:pPr>
            <a:r>
              <a:rPr lang="en-GB" sz="1250" b="0" dirty="0">
                <a:solidFill>
                  <a:srgbClr val="1C1D22"/>
                </a:solidFill>
                <a:latin typeface="Montserrat"/>
              </a:rPr>
              <a:t>https://201-24-62-88.sslip.io</a:t>
            </a:r>
          </a:p>
          <a:p>
            <a:pPr algn="l">
              <a:spcAft>
                <a:spcPts val="100"/>
              </a:spcAft>
            </a:pPr>
            <a:r>
              <a:rPr sz="1200" b="1" dirty="0" err="1">
                <a:solidFill>
                  <a:srgbClr val="520977"/>
                </a:solidFill>
                <a:latin typeface="Montserrat"/>
              </a:rPr>
              <a:t>Описание</a:t>
            </a:r>
            <a:r>
              <a:rPr sz="1200" b="1" dirty="0">
                <a:solidFill>
                  <a:srgbClr val="520977"/>
                </a:solidFill>
                <a:latin typeface="Montserrat"/>
              </a:rPr>
              <a:t> API</a:t>
            </a:r>
          </a:p>
          <a:p>
            <a:pPr algn="l">
              <a:spcAft>
                <a:spcPts val="900"/>
              </a:spcAft>
            </a:pPr>
            <a:r>
              <a:rPr sz="1250" b="0" dirty="0">
                <a:solidFill>
                  <a:srgbClr val="1C1D22"/>
                </a:solidFill>
                <a:latin typeface="Montserrat"/>
              </a:rPr>
              <a:t>https://201-24-62-88.sslip.io/</a:t>
            </a:r>
            <a:r>
              <a:rPr sz="1250" b="0" dirty="0" err="1">
                <a:solidFill>
                  <a:srgbClr val="1C1D22"/>
                </a:solidFill>
                <a:latin typeface="Montserrat"/>
              </a:rPr>
              <a:t>api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-docs/</a:t>
            </a:r>
          </a:p>
          <a:p>
            <a:pPr algn="l">
              <a:spcAft>
                <a:spcPts val="100"/>
              </a:spcAft>
            </a:pPr>
            <a:r>
              <a:rPr sz="1200" b="1" dirty="0" err="1">
                <a:solidFill>
                  <a:srgbClr val="520977"/>
                </a:solidFill>
                <a:latin typeface="Montserrat"/>
              </a:rPr>
              <a:t>Репозиторий</a:t>
            </a:r>
            <a:endParaRPr sz="1200" b="1" dirty="0">
              <a:solidFill>
                <a:srgbClr val="520977"/>
              </a:solidFill>
              <a:latin typeface="Montserrat"/>
            </a:endParaRPr>
          </a:p>
          <a:p>
            <a:pPr algn="l">
              <a:spcAft>
                <a:spcPts val="900"/>
              </a:spcAft>
            </a:pPr>
            <a:r>
              <a:rPr sz="1250" b="0" dirty="0" err="1">
                <a:solidFill>
                  <a:srgbClr val="1C1D22"/>
                </a:solidFill>
                <a:latin typeface="Montserrat"/>
              </a:rPr>
              <a:t>github.com</a:t>
            </a:r>
            <a:r>
              <a:rPr sz="1250" b="0" dirty="0">
                <a:solidFill>
                  <a:srgbClr val="1C1D22"/>
                </a:solidFill>
                <a:latin typeface="Montserrat"/>
              </a:rPr>
              <a:t>/LaimOr127/Digital-platform-aggregator-of-IT-vacancies-FSP-</a:t>
            </a:r>
          </a:p>
          <a:p>
            <a:pPr algn="l">
              <a:spcAft>
                <a:spcPts val="100"/>
              </a:spcAft>
            </a:pPr>
            <a:r>
              <a:rPr sz="1200" b="1" dirty="0" err="1">
                <a:solidFill>
                  <a:srgbClr val="520977"/>
                </a:solidFill>
                <a:latin typeface="Montserrat"/>
              </a:rPr>
              <a:t>Демо-вход</a:t>
            </a:r>
            <a:r>
              <a:rPr lang="ru-RU" sz="1200" b="1" dirty="0">
                <a:solidFill>
                  <a:srgbClr val="520977"/>
                </a:solidFill>
                <a:latin typeface="Montserrat"/>
              </a:rPr>
              <a:t> (можно зарегистрироваться своей почтой)</a:t>
            </a:r>
            <a:endParaRPr sz="1200" b="1" dirty="0">
              <a:solidFill>
                <a:srgbClr val="520977"/>
              </a:solidFill>
              <a:latin typeface="Montserrat"/>
            </a:endParaRPr>
          </a:p>
          <a:p>
            <a:r>
              <a:rPr lang="en-RU" sz="1250" dirty="0"/>
              <a:t>Кандидат:</a:t>
            </a:r>
          </a:p>
          <a:p>
            <a:r>
              <a:rPr lang="en-RU" sz="1250" dirty="0"/>
              <a:t>demo-candidate@example.org</a:t>
            </a:r>
          </a:p>
          <a:p>
            <a:r>
              <a:rPr lang="en-RU" sz="1250" dirty="0"/>
              <a:t>Demo2e978f6bb16f</a:t>
            </a:r>
          </a:p>
          <a:p>
            <a:r>
              <a:rPr lang="en-RU" sz="1250" dirty="0"/>
              <a:t>Компания:</a:t>
            </a:r>
          </a:p>
          <a:p>
            <a:r>
              <a:rPr lang="en-RU" sz="1250" dirty="0"/>
              <a:t>demo-hr@example.org</a:t>
            </a:r>
          </a:p>
          <a:p>
            <a:r>
              <a:rPr lang="en-RU" sz="1250" dirty="0"/>
              <a:t>Demo2e978f6bb16f</a:t>
            </a:r>
          </a:p>
          <a:p>
            <a:pPr algn="l">
              <a:spcAft>
                <a:spcPts val="100"/>
              </a:spcAft>
            </a:pPr>
            <a:r>
              <a:rPr sz="1200" b="1" dirty="0">
                <a:solidFill>
                  <a:srgbClr val="520977"/>
                </a:solidFill>
                <a:latin typeface="Montserrat"/>
              </a:rPr>
              <a:t>ID </a:t>
            </a:r>
            <a:r>
              <a:rPr sz="1200" b="1" dirty="0" err="1">
                <a:solidFill>
                  <a:srgbClr val="520977"/>
                </a:solidFill>
                <a:latin typeface="Montserrat"/>
              </a:rPr>
              <a:t>для</a:t>
            </a:r>
            <a:r>
              <a:rPr sz="1200" b="1" dirty="0">
                <a:solidFill>
                  <a:srgbClr val="520977"/>
                </a:solidFill>
                <a:latin typeface="Montserrat"/>
              </a:rPr>
              <a:t> </a:t>
            </a:r>
            <a:r>
              <a:rPr sz="1200" b="1" dirty="0" err="1">
                <a:solidFill>
                  <a:srgbClr val="520977"/>
                </a:solidFill>
                <a:latin typeface="Montserrat"/>
              </a:rPr>
              <a:t>привязки</a:t>
            </a:r>
            <a:r>
              <a:rPr sz="1200" b="1" dirty="0">
                <a:solidFill>
                  <a:srgbClr val="520977"/>
                </a:solidFill>
                <a:latin typeface="Montserrat"/>
              </a:rPr>
              <a:t> ФСП</a:t>
            </a:r>
          </a:p>
          <a:p>
            <a:pPr algn="l">
              <a:spcAft>
                <a:spcPts val="900"/>
              </a:spcAft>
            </a:pPr>
            <a:r>
              <a:rPr sz="1250" b="0" dirty="0">
                <a:solidFill>
                  <a:srgbClr val="1C1D22"/>
                </a:solidFill>
                <a:latin typeface="Montserrat"/>
              </a:rPr>
              <a:t>FSP-24001 … FSP-24007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303520" cy="108132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 dirty="0" err="1">
                <a:solidFill>
                  <a:srgbClr val="FFFFFF"/>
                </a:solidFill>
                <a:latin typeface="Montserrat"/>
              </a:rPr>
              <a:t>Спасибо</a:t>
            </a:r>
            <a:r>
              <a:rPr sz="4400" b="1" dirty="0">
                <a:solidFill>
                  <a:srgbClr val="FFFFFF"/>
                </a:solidFill>
                <a:latin typeface="Montserrat"/>
              </a:rPr>
              <a:t>!</a:t>
            </a:r>
          </a:p>
          <a:p>
            <a:pPr algn="l">
              <a:spcAft>
                <a:spcPts val="0"/>
              </a:spcAft>
            </a:pPr>
            <a:r>
              <a:rPr lang="ru-RU" sz="1600" dirty="0">
                <a:solidFill>
                  <a:srgbClr val="FFFFFF"/>
                </a:solidFill>
                <a:latin typeface="Montserrat"/>
              </a:rPr>
              <a:t>Видео работоспособности</a:t>
            </a:r>
            <a:r>
              <a:rPr lang="ru-RU" sz="1600" b="0" dirty="0">
                <a:solidFill>
                  <a:srgbClr val="FFFFFF"/>
                </a:solidFill>
                <a:latin typeface="Montserrat"/>
              </a:rPr>
              <a:t>:</a:t>
            </a:r>
            <a:endParaRPr sz="1600" b="0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08520-BE53-7F5B-8CCF-D389B2B14D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289" y="3684412"/>
            <a:ext cx="24003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11361</TotalTime>
  <Words>2401</Words>
  <Application>Microsoft Macintosh PowerPoint</Application>
  <PresentationFormat>Widescreen</PresentationFormat>
  <Paragraphs>349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Montserrat</vt:lpstr>
      <vt:lpstr>Wingdings</vt:lpstr>
      <vt:lpstr>Для Академия инноваторов 16_9</vt:lpstr>
      <vt:lpstr>IT MATCH</vt:lpstr>
      <vt:lpstr>IT MATCH</vt:lpstr>
      <vt:lpstr>КОМАНДА</vt:lpstr>
      <vt:lpstr>О КОМАНДЕ И ЗАДАЧЕ</vt:lpstr>
      <vt:lpstr>КОРОТКО О РЕШЕНИИ</vt:lpstr>
      <vt:lpstr>ЧТО НЕ ТАК С ПОИСКОМ РАБОТЫ В ИТ</vt:lpstr>
      <vt:lpstr>ОБРАТНАЯ МЕХАНИКА ПОДБОРА</vt:lpstr>
      <vt:lpstr>КАБИНЕТ КАНДИДАТА</vt:lpstr>
      <vt:lpstr>КАБИНЕТ РАБОТОДАТЕЛЯ</vt:lpstr>
      <vt:lpstr>МЕХАНИКА ТЕСТИРОВАНИЯ</vt:lpstr>
      <vt:lpstr>ПРОВЕРКА ТЕСТИРОВАНИЯ</vt:lpstr>
      <vt:lpstr>МЕХАНИКА ПОДБОРА</vt:lpstr>
      <vt:lpstr>ПРОВЕРКА ПОДБОРА</vt:lpstr>
      <vt:lpstr>ИНТЕГРАЦИЯ С ФСП</vt:lpstr>
      <vt:lpstr>АРХИТЕКТУРА</vt:lpstr>
      <vt:lpstr>ТЕХНИЧЕСКАЯ ПРОРАБОТКА</vt:lpstr>
      <vt:lpstr>ЦЕННОСТЬ ДЛЯ УЧАСТНИКОВ</vt:lpstr>
      <vt:lpstr>БИЗНЕС-МОДЕЛЬ: ГИПОТЕЗЫ</vt:lpstr>
      <vt:lpstr>ЧЕМ ОТЛИЧАЕТСЯ РЕШЕНИЕ</vt:lpstr>
      <vt:lpstr>СВЕРХ ОБЯЗАТЕЛЬНОГО</vt:lpstr>
      <vt:lpstr>ПЛАНЫ РАЗВИТИЯ</vt:lpstr>
      <vt:lpstr>ДОРАБОТКИ</vt:lpstr>
      <vt:lpstr>ПРАВИЛА, ЗАЩИТА, ИНТЕРФЕЙС</vt:lpstr>
      <vt:lpstr>ССЫЛКИ И ДОСТУПЫ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Вика Вертаева</cp:lastModifiedBy>
  <cp:revision>102</cp:revision>
  <dcterms:created xsi:type="dcterms:W3CDTF">2023-05-15T07:36:23Z</dcterms:created>
  <dcterms:modified xsi:type="dcterms:W3CDTF">2026-10-21T18:43:37Z</dcterms:modified>
</cp:coreProperties>
</file>