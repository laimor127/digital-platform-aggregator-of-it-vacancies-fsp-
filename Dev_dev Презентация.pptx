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365" r:id="rId2"/>
    <p:sldId id="366" r:id="rId3"/>
    <p:sldId id="362" r:id="rId4"/>
    <p:sldId id="364" r:id="rId5"/>
    <p:sldId id="375" r:id="rId6"/>
    <p:sldId id="374" r:id="rId7"/>
    <p:sldId id="267" r:id="rId8"/>
    <p:sldId id="262" r:id="rId9"/>
    <p:sldId id="371" r:id="rId10"/>
    <p:sldId id="268" r:id="rId11"/>
    <p:sldId id="378" r:id="rId12"/>
    <p:sldId id="266" r:id="rId13"/>
    <p:sldId id="263" r:id="rId14"/>
    <p:sldId id="381" r:id="rId15"/>
    <p:sldId id="372" r:id="rId16"/>
    <p:sldId id="370" r:id="rId17"/>
    <p:sldId id="377" r:id="rId18"/>
    <p:sldId id="376" r:id="rId19"/>
    <p:sldId id="379" r:id="rId20"/>
    <p:sldId id="260" r:id="rId21"/>
    <p:sldId id="380" r:id="rId22"/>
    <p:sldId id="382" r:id="rId23"/>
    <p:sldId id="383" r:id="rId24"/>
    <p:sldId id="373" r:id="rId2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74"/>
            <p14:sldId id="267"/>
            <p14:sldId id="262"/>
            <p14:sldId id="371"/>
            <p14:sldId id="268"/>
            <p14:sldId id="378"/>
            <p14:sldId id="266"/>
            <p14:sldId id="263"/>
            <p14:sldId id="381"/>
            <p14:sldId id="372"/>
            <p14:sldId id="370"/>
            <p14:sldId id="377"/>
            <p14:sldId id="376"/>
            <p14:sldId id="379"/>
            <p14:sldId id="260"/>
            <p14:sldId id="380"/>
            <p14:sldId id="382"/>
            <p14:sldId id="383"/>
            <p14:sldId id="373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5763"/>
  </p:normalViewPr>
  <p:slideViewPr>
    <p:cSldViewPr snapToGrid="0" showGuides="1">
      <p:cViewPr varScale="1">
        <p:scale>
          <a:sx n="100" d="100"/>
          <a:sy n="100" d="100"/>
        </p:scale>
        <p:origin x="184" y="55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верных ответов, %</c:v>
                </c:pt>
              </c:strCache>
            </c:strRef>
          </c:tx>
          <c:spPr>
            <a:solidFill>
              <a:srgbClr val="FF0053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Стажёр</c:v>
                </c:pt>
                <c:pt idx="1">
                  <c:v>Junior</c:v>
                </c:pt>
                <c:pt idx="2">
                  <c:v>Middle</c:v>
                </c:pt>
                <c:pt idx="3">
                  <c:v>Senior</c:v>
                </c:pt>
                <c:pt idx="4">
                  <c:v>Lead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23.3</c:v>
                </c:pt>
                <c:pt idx="1">
                  <c:v>37.299999999999997</c:v>
                </c:pt>
                <c:pt idx="2">
                  <c:v>56.7</c:v>
                </c:pt>
                <c:pt idx="3">
                  <c:v>77.400000000000006</c:v>
                </c:pt>
                <c:pt idx="4">
                  <c:v>93.5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699-614A-9380-C2C468CFA7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8A83D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C1D22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Баллы</c:v>
                </c:pt>
              </c:strCache>
            </c:strRef>
          </c:tx>
          <c:spPr>
            <a:solidFill>
              <a:srgbClr val="FF0053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C1D22"/>
                    </a:solidFill>
                  </a:defRPr>
                </a:pPr>
                <a:endParaRPr lang="en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Актуальность</c:v>
                </c:pt>
                <c:pt idx="1">
                  <c:v>Достижения ФСП</c:v>
                </c:pt>
                <c:pt idx="2">
                  <c:v>Результат теста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1C1D2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70"/>
        </c:scaling>
        <c:delete val="1"/>
        <c:axPos val="b"/>
        <c:numFmt formatCode="General" sourceLinked="1"/>
        <c:majorTickMark val="none"/>
        <c:minorTickMark val="none"/>
        <c:tickLblPos val="nextTo"/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 Match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Precision@5, %</c:v>
                </c:pt>
                <c:pt idx="1">
                  <c:v>Precision@10, 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</c:v>
                </c:pt>
                <c:pt idx="1">
                  <c:v>73.8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Выдача по резюме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Precision@5, %</c:v>
                </c:pt>
                <c:pt idx="1">
                  <c:v>Precision@10, %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66.5</c:v>
                </c:pt>
                <c:pt idx="1">
                  <c:v>66.2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20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каталоге работодателя под потребность порядок: сначала категория (подтверждённый грейд против грейда вакансии), внутри — сила профиля: тест 60, ФСП 25, актуальность 15. Тест — близость уровня к грейду вакансии. Стек — фильтр каталога. В ленте вакансий кандидата соответствие вакансии по-прежнему считается по 8 факторам: категория 30, тест 20, навыки 20, ФСП 10, описание, актуальность, формат и город, зарплата по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21.10.2026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21.10.2026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21.10.2026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21.10.2026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21.10.2026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21.10.2026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IT MATCH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257800"/>
            <a:ext cx="8229600" cy="301621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600" b="1" dirty="0" err="1">
                <a:solidFill>
                  <a:srgbClr val="FFFFFF"/>
                </a:solidFill>
                <a:latin typeface="Montserrat"/>
              </a:rPr>
              <a:t>Команда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> «</a:t>
            </a:r>
            <a:r>
              <a:rPr lang="en-GB" sz="1600" b="1" dirty="0" err="1">
                <a:solidFill>
                  <a:srgbClr val="FFFFFF"/>
                </a:solidFill>
                <a:latin typeface="Montserrat"/>
              </a:rPr>
              <a:t>Dev_dev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Уникальность связана с актуальной аналитикой рынка. И работодатель, и соискатель могут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посмотреть медианную зарплату, соответствующую грейду и стеку; соответствие желаемой зарплаты средней зарплаты по рынку; рекомендации по развитию, исходя из требований в вакансиях.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IT MATCH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7373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Веб-платформа с обратной механикой подбора. Кандидат проходит опрос и тест на грейд и получает категорию. Работодатель сам находит его в анонимном каталоге и приглашает с вилкой зарплаты.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338328"/>
            <a:ext cx="6455664" cy="2633472"/>
          </a:xfrm>
          <a:prstGeom prst="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" y="868680"/>
            <a:ext cx="5669280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Montserrat"/>
              </a:rPr>
              <a:t>Работодатель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Montserrat"/>
              </a:rPr>
              <a:t>находит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Montserrat"/>
              </a:rPr>
              <a:t>кандидата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,</a:t>
            </a:r>
          </a:p>
          <a:p>
            <a:pPr algn="l">
              <a:spcAft>
                <a:spcPts val="1000"/>
              </a:spcAft>
            </a:pPr>
            <a:r>
              <a:rPr sz="2400" b="1" dirty="0" err="1">
                <a:solidFill>
                  <a:srgbClr val="FFD6E3"/>
                </a:solidFill>
                <a:latin typeface="Montserrat"/>
              </a:rPr>
              <a:t>а</a:t>
            </a:r>
            <a:r>
              <a:rPr sz="2400" b="1" dirty="0">
                <a:solidFill>
                  <a:srgbClr val="FFD6E3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D6E3"/>
                </a:solidFill>
                <a:latin typeface="Montserrat"/>
              </a:rPr>
              <a:t>не</a:t>
            </a:r>
            <a:r>
              <a:rPr sz="2400" b="1" dirty="0">
                <a:solidFill>
                  <a:srgbClr val="FFD6E3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D6E3"/>
                </a:solidFill>
                <a:latin typeface="Montserrat"/>
              </a:rPr>
              <a:t>кандидат</a:t>
            </a:r>
            <a:r>
              <a:rPr sz="2400" b="1" dirty="0">
                <a:solidFill>
                  <a:srgbClr val="FFD6E3"/>
                </a:solidFill>
                <a:latin typeface="Montserrat"/>
              </a:rPr>
              <a:t> — </a:t>
            </a:r>
            <a:r>
              <a:rPr sz="2400" b="1" dirty="0" err="1">
                <a:solidFill>
                  <a:srgbClr val="FFD6E3"/>
                </a:solidFill>
                <a:latin typeface="Montserrat"/>
              </a:rPr>
              <a:t>вакансию</a:t>
            </a:r>
            <a:endParaRPr sz="2400" b="1" dirty="0">
              <a:solidFill>
                <a:srgbClr val="FFD6E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  <a:latin typeface="Montserrat"/>
              </a:rPr>
              <a:t>Платформа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подбора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ИТ-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специалистов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с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подтверждённым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грейдом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и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достижениями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ФСП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931920"/>
            <a:ext cx="5760720" cy="1148007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400" b="1" dirty="0" err="1">
                <a:solidFill>
                  <a:srgbClr val="1C1D22"/>
                </a:solidFill>
                <a:latin typeface="Montserrat"/>
              </a:rPr>
              <a:t>Капитан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:</a:t>
            </a:r>
            <a:r>
              <a:rPr lang="ru-RU" sz="1400" b="1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400" b="1" dirty="0" err="1">
                <a:solidFill>
                  <a:srgbClr val="1C1D22"/>
                </a:solidFill>
                <a:latin typeface="Montserrat"/>
              </a:rPr>
              <a:t>Припадчев</a:t>
            </a:r>
            <a:r>
              <a:rPr lang="ru-RU" sz="1400" b="1" dirty="0">
                <a:solidFill>
                  <a:srgbClr val="1C1D22"/>
                </a:solidFill>
                <a:latin typeface="Montserrat"/>
              </a:rPr>
              <a:t> Алексей</a:t>
            </a:r>
            <a:endParaRPr sz="14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400" b="1" dirty="0" err="1">
                <a:solidFill>
                  <a:srgbClr val="1C1D22"/>
                </a:solidFill>
                <a:latin typeface="Montserrat"/>
              </a:rPr>
              <a:t>Участников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3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человека</a:t>
            </a:r>
            <a:endParaRPr sz="14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400" b="1" dirty="0" err="1">
                <a:solidFill>
                  <a:srgbClr val="1C1D22"/>
                </a:solidFill>
                <a:latin typeface="Montserrat"/>
              </a:rPr>
              <a:t>Состав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два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разработчика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системный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аналитик</a:t>
            </a:r>
            <a:endParaRPr sz="14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400" b="1" dirty="0" err="1">
                <a:solidFill>
                  <a:srgbClr val="1C1D22"/>
                </a:solidFill>
                <a:latin typeface="Montserrat"/>
              </a:rPr>
              <a:t>Город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1C1D22"/>
                </a:solidFill>
                <a:latin typeface="Montserrat"/>
              </a:rPr>
              <a:t>регион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: </a:t>
            </a:r>
            <a:r>
              <a:rPr lang="ru-RU" sz="1400" dirty="0">
                <a:solidFill>
                  <a:srgbClr val="1C1D22"/>
                </a:solidFill>
                <a:latin typeface="Montserrat"/>
              </a:rPr>
              <a:t>Москва</a:t>
            </a:r>
            <a:endParaRPr sz="1400" b="0" dirty="0">
              <a:solidFill>
                <a:srgbClr val="1C1D22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@LaimOr127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+79164313055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Московский политех, ИАС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Алексей </a:t>
            </a:r>
            <a:r>
              <a:rPr lang="ru-RU" sz="1600" b="1" dirty="0" err="1">
                <a:solidFill>
                  <a:schemeClr val="accent5"/>
                </a:solidFill>
              </a:rPr>
              <a:t>Припадчев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@</a:t>
            </a:r>
            <a:r>
              <a:rPr lang="en-GB" sz="1200" dirty="0" err="1">
                <a:solidFill>
                  <a:schemeClr val="tx1"/>
                </a:solidFill>
              </a:rPr>
              <a:t>Stas_Marchuk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+79153126043</a:t>
            </a:r>
          </a:p>
          <a:p>
            <a:pPr marL="0" indent="0" fontAlgn="base">
              <a:spcBef>
                <a:spcPts val="600"/>
              </a:spcBef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Станислав Марчук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Системный аналитик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vkvrtv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+79250990322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Московский политех, ДИТ Москвы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Виктория Вертаева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195681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01AD4D0-0883-97F4-EF5E-184A94A0CBA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40" b="16940"/>
          <a:stretch>
            <a:fillRect/>
          </a:stretch>
        </p:blipFill>
        <p:spPr>
          <a:xfrm>
            <a:off x="2886075" y="1827213"/>
            <a:ext cx="1722438" cy="1541462"/>
          </a:xfrm>
          <a:prstGeom prst="rect">
            <a:avLst/>
          </a:pr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B6895172-F879-45D8-1885-F6E26C319BE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06" b="12306"/>
          <a:stretch>
            <a:fillRect/>
          </a:stretch>
        </p:blipFill>
        <p:spPr>
          <a:xfrm>
            <a:off x="5191125" y="1809750"/>
            <a:ext cx="1722438" cy="1558925"/>
          </a:xfrm>
          <a:prstGeom prst="rect">
            <a:avLst/>
          </a:pr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087B8B0-648A-88E0-B345-F3295FF45B2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0" b="16060"/>
          <a:stretch>
            <a:fillRect/>
          </a:stretch>
        </p:blipFill>
        <p:spPr>
          <a:xfrm>
            <a:off x="7519988" y="1809750"/>
            <a:ext cx="1722437" cy="1558925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416966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 И ЗАДАЧЕ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996696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Три человека: два разработчика и системный аналитик. Ранее принимали участие в хакатоне для мессенджера </a:t>
            </a:r>
            <a:r>
              <a:rPr lang="en-US" dirty="0">
                <a:solidFill>
                  <a:schemeClr val="tx1"/>
                </a:solidFill>
              </a:rPr>
              <a:t>Max – </a:t>
            </a:r>
            <a:r>
              <a:rPr lang="ru-RU" dirty="0">
                <a:solidFill>
                  <a:schemeClr val="tx1"/>
                </a:solidFill>
              </a:rPr>
              <a:t>поняли, что вместе можем делать классные решения, решили попробовать.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4919472"/>
            <a:ext cx="9966960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Тест на стажёра проходили случайные ответы — в 52 % попыток. Ввели минимум верных ответов и пересобрали уровни заданий: стало 1,3 %.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API ФСП не выдаётся — сделали отдельный сервис-заглушку и клиент, который заменяется на настоящий без переделки остального кода.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Эталонной разметки нет — построили синтетическую выборку со скрытым настоящим уровнем и считаем метрики одной командой.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3657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сложностями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9966960" cy="8229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RU" dirty="0">
                <a:solidFill>
                  <a:schemeClr val="tx1"/>
                </a:solidFill>
              </a:rPr>
              <a:t>Мы хотели объед</a:t>
            </a:r>
            <a:r>
              <a:rPr lang="ru-RU" dirty="0">
                <a:solidFill>
                  <a:schemeClr val="tx1"/>
                </a:solidFill>
              </a:rPr>
              <a:t>и</a:t>
            </a:r>
            <a:r>
              <a:rPr lang="en-RU" dirty="0">
                <a:solidFill>
                  <a:schemeClr val="tx1"/>
                </a:solidFill>
              </a:rPr>
              <a:t>нить аналитику и разработку, </a:t>
            </a:r>
            <a:r>
              <a:rPr lang="ru-RU" dirty="0">
                <a:solidFill>
                  <a:schemeClr val="tx1"/>
                </a:solidFill>
              </a:rPr>
              <a:t>чтобы</a:t>
            </a:r>
            <a:r>
              <a:rPr lang="en-RU" dirty="0">
                <a:solidFill>
                  <a:schemeClr val="tx1"/>
                </a:solidFill>
              </a:rPr>
              <a:t> создать уникальную механику, удобную для всех участников отбора.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2011680"/>
            <a:ext cx="4937760" cy="4023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FastAPI, PostgreSQL 16 и React 19 в Docker Compose; запуск одной командой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Тест на грейд: банк из 114 параметрических шаблонов, уровень оценивает модель IRT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Подбор: группа по категории из теста, внутри — тест и ФСП; место объясняется одной строкой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ФИО и контакты зашифрованы, чужие строки отсекает сама база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112 методов API с описанием OpenAPI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011680"/>
            <a:ext cx="4937760" cy="4023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Работодатель получает готовую категорию проверенных кандидатов вместо потока откликов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Кандидат видит вилку зарплаты до начала общения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Участник ФСП превращает спортивные результаты в преимущество при найме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Дальше: реальный ФСП ID, проверка компаний, интеграция с ATS работодателей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ЧТО НЕ ТАК С ПОИСКОМ РАБОТЫ В ИТ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331720"/>
            <a:ext cx="288036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Резюме не подтверждает навыки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200400"/>
            <a:ext cx="2880360" cy="2743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В резюме указаны стек и места работы, но не видно, что человек умеет на практике. Отбор сводится к совпадению ключевых слов.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331720"/>
            <a:ext cx="297180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Работодатель тонет в откликах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200400"/>
            <a:ext cx="2971800" cy="144039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0" dirty="0">
                <a:solidFill>
                  <a:srgbClr val="1C1D22"/>
                </a:solidFill>
                <a:latin typeface="Montserrat"/>
              </a:rPr>
              <a:t>Сотни неподходящих кандидатов проходят через многочисленные этапы отбора, увеличивая стоимость поиска нужного специалиста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2331720"/>
            <a:ext cx="288036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Кандидат откликается вслепую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200400"/>
            <a:ext cx="2880360" cy="25945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0" dirty="0">
                <a:solidFill>
                  <a:srgbClr val="1C1D22"/>
                </a:solidFill>
                <a:latin typeface="Montserrat"/>
              </a:rPr>
              <a:t>На других платформах вакансии могут публиковаться даже без  условий, и кандидаты получают бесконечные отказы. На нашей платформе присутствует модерация, а у работодателя есть возможность подтверждать актуальность вакансии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557784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ОБРАТНАЯ МЕХАНИКА ПОДБОРА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92608" y="1463040"/>
            <a:ext cx="2615184" cy="1063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FF0053"/>
                </a:solidFill>
                <a:latin typeface="Montserrat"/>
              </a:rPr>
              <a:t>Профиль</a:t>
            </a:r>
            <a:endParaRPr sz="1500" b="1" dirty="0">
              <a:solidFill>
                <a:srgbClr val="FF005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1C1D22"/>
                </a:solidFill>
                <a:latin typeface="Montserrat"/>
              </a:rPr>
              <a:t>Регистрация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с подтверждением почты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;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профиль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вручную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или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из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PDF-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резюме</a:t>
            </a:r>
            <a:endParaRPr sz="12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578608" y="4919472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Опрос и тест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Специализация, грейд, 15 заданий за 25 минут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1463040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Категория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Специализация и подтверждённый грейд; анонимная карточка в каталоге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82896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Приглашение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Работодатель находит кандидата и приглашает с вилкой зарплаты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08007" y="1463040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Контакт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Кандидат принял — компания видит контакты; дальше собеседование и оффер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96849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КАБИНЕТ КАНДИДАТА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621792" y="1600200"/>
            <a:ext cx="4846320" cy="353840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520977"/>
                </a:solidFill>
                <a:latin typeface="Montserrat"/>
              </a:rPr>
              <a:t>Что </a:t>
            </a:r>
            <a:r>
              <a:rPr sz="1800" b="1" dirty="0" err="1">
                <a:solidFill>
                  <a:srgbClr val="520977"/>
                </a:solidFill>
                <a:latin typeface="Montserrat"/>
              </a:rPr>
              <a:t>умеет</a:t>
            </a:r>
            <a:r>
              <a:rPr sz="1800" b="1" dirty="0">
                <a:solidFill>
                  <a:srgbClr val="520977"/>
                </a:solidFill>
                <a:latin typeface="Montserrat"/>
              </a:rPr>
              <a:t> </a:t>
            </a:r>
            <a:r>
              <a:rPr sz="1800" b="1" dirty="0" err="1">
                <a:solidFill>
                  <a:srgbClr val="520977"/>
                </a:solidFill>
                <a:latin typeface="Montserrat"/>
              </a:rPr>
              <a:t>кабинет</a:t>
            </a:r>
            <a:endParaRPr sz="1800" b="1" dirty="0">
              <a:solidFill>
                <a:srgbClr val="520977"/>
              </a:solidFill>
              <a:latin typeface="Montserrat"/>
            </a:endParaRP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 dirty="0" err="1">
                <a:solidFill>
                  <a:srgbClr val="1C1D22"/>
                </a:solidFill>
                <a:latin typeface="Montserrat"/>
              </a:rPr>
              <a:t>Профиль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вручную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из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PDF-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или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DOCX-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резюме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из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анкеты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ФСП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 dirty="0" err="1">
                <a:solidFill>
                  <a:srgbClr val="1C1D22"/>
                </a:solidFill>
                <a:latin typeface="Montserrat"/>
              </a:rPr>
              <a:t>Тест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грейд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история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попыток</a:t>
            </a:r>
            <a:endParaRPr sz="15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 dirty="0" err="1">
                <a:solidFill>
                  <a:srgbClr val="1C1D22"/>
                </a:solidFill>
                <a:latin typeface="Montserrat"/>
              </a:rPr>
              <a:t>Приглашения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с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вилкой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зарплаты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принять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или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отклонить</a:t>
            </a:r>
            <a:endParaRPr sz="15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  <a:latin typeface="Montserrat"/>
              </a:rPr>
              <a:t>Лента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вакансий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свои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отклики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со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статусами</a:t>
            </a:r>
            <a:endParaRPr sz="15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 dirty="0" err="1">
                <a:solidFill>
                  <a:srgbClr val="1C1D22"/>
                </a:solidFill>
                <a:latin typeface="Montserrat"/>
              </a:rPr>
              <a:t>Собеседования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офферы</a:t>
            </a:r>
            <a:endParaRPr sz="15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  <a:latin typeface="Montserrat"/>
              </a:rPr>
              <a:t>Радар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зарплат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навыки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для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следующего</a:t>
            </a:r>
            <a:r>
              <a:rPr sz="15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500" b="0" dirty="0" err="1">
                <a:solidFill>
                  <a:srgbClr val="1C1D22"/>
                </a:solidFill>
                <a:latin typeface="Montserrat"/>
              </a:rPr>
              <a:t>грейда</a:t>
            </a:r>
            <a:endParaRPr lang="ru-RU" sz="15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  <a:latin typeface="Montserrat"/>
              </a:rPr>
              <a:t>Добавление жалобы</a:t>
            </a:r>
            <a:endParaRPr sz="15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1399032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Приватность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Кандидат решает, показывать ли зарплатные ожидания, достижения ФСП и раздел «о себе»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414016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Согласие и удаление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Согласие на обработку данных при регистрации, плашка cookie на сайте; аккаунт удаляется по паролю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419856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Профиль в PDF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Стандартизированный профиль печатается одной кнопкой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4434840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Паспорт навыков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Подписанный снимок грейда и навыков с публичной ссылкой и QR-кодом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449824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Только свои данные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Кандидат видит лишь свои приглашения и отклики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572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КАБИНЕТ РАБОТОДАТЕЛЯ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521207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Потребность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Вакансия или запрос: специализация, грейд, стек, формат, город, вилка. Подсказка рынка показывает, сколько кандидатов подходит.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5576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Каталог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76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Матрица 7 специализаций на 5 грейдов. Анонимные карточки, фильтры по стеку, городу и ФСП; фильтр грейда — только подтверждённый тестом. Строка «почему» объясняет место в выдаче.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Приглашение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Конкретному кандидату, без обязательной вакансии. Вилка зарплаты и способ связи обязательны. Статус видят обе стороны.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Контакт и найм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Контакты открываются после согласия кандидата, каждое раскрытие пишется в журнал. Дальше — слоты собеседования и оффер.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7731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ТЕСТИРОВАНИЯ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40080" y="3200400"/>
            <a:ext cx="3310128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Банк шаблонов, а не список вопросов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114 параметрических шаблонов. Числа, формулировки и варианты ответов подставляются при каждой генерации: из 200 генераций одного шаблона получается 176 разных заданий (медиана).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35424" y="3200400"/>
            <a:ext cx="3310128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Оценка уровня, а не процент верных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15 заданий разной сложности за 25 минут. Статистическая модель IRT (3PL) оценивает уровень кандидата; тест сдан, если уровень не ниже порога грейда.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39912" y="3200400"/>
            <a:ext cx="3310128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Правила попыток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Не сдал — сразу доступен тест на грейд ниже; этот грейд и выше закрыты на 14 дней. Сдал уверенно — можно пробовать выше. Подтверждённый грейд меняется не чаще раза в 90 дней.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7731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11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ПРОВЕРКА ТЕСТИРОВАНИЯ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B66"/>
                </a:solidFill>
                <a:latin typeface="Montserrat"/>
              </a:rPr>
              <a:t>1000 синтетических кандидатов со скрытым настоящим уровнем; расчёт воспроизводится одной командой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481328"/>
            <a:ext cx="2697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0053"/>
                </a:solidFill>
                <a:latin typeface="Montserrat"/>
              </a:rPr>
              <a:t>65,6 %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176272"/>
            <a:ext cx="2560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грейд по тесту совпал с настоящим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1481328"/>
            <a:ext cx="2697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0053"/>
                </a:solidFill>
                <a:latin typeface="Montserrat"/>
              </a:rPr>
              <a:t>94,7 %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2176272"/>
            <a:ext cx="2560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ошибка не больше одного грейда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1481328"/>
            <a:ext cx="2697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0053"/>
                </a:solidFill>
                <a:latin typeface="Montserrat"/>
              </a:rPr>
              <a:t>5,9 %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2176272"/>
            <a:ext cx="2560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грейд завышен; занижен у 28,5 %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1481328"/>
            <a:ext cx="2697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0053"/>
                </a:solidFill>
                <a:latin typeface="Montserrat"/>
              </a:rPr>
              <a:t>0,83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2176272"/>
            <a:ext cx="2560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корреляция оценок в двух независимых тестах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26080"/>
            <a:ext cx="56692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Тест Middle: доля верных ответов по настоящему грейду, %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65760" y="3246120"/>
          <a:ext cx="5760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400800" y="2926080"/>
            <a:ext cx="544068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3035808"/>
            <a:ext cx="507492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7"/>
                </a:solidFill>
                <a:latin typeface="Montserrat"/>
              </a:rPr>
              <a:t>Утечка заданий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Слабый кандидат с ответами 20 утёкших тестов сдаёт Middle в 24,3 % случаев, без них — в 15,3 %. При едином тесте для всех было бы 100 %.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663440"/>
            <a:ext cx="544068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773168"/>
            <a:ext cx="507492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7"/>
                </a:solidFill>
                <a:latin typeface="Montserrat"/>
              </a:rPr>
              <a:t>Случайные ответы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Тест на стажёра наугад проходят 1,3 % попыток; до доработки было 52 %. На Junior и выше — 0–0,1 %.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7673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12</a:t>
            </a:fld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6028303"/>
              </p:ext>
            </p:extLst>
          </p:nvPr>
        </p:nvGraphicFramePr>
        <p:xfrm>
          <a:off x="108488" y="1661465"/>
          <a:ext cx="8896028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ПОДБОРА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08488" y="1442009"/>
            <a:ext cx="57607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20977"/>
                </a:solidFill>
                <a:latin typeface="Montserrat"/>
              </a:rPr>
              <a:t>Место внутри категории — сила профиля, баллов из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4434" y="1442009"/>
            <a:ext cx="3738191" cy="90178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FF0053"/>
                </a:solidFill>
                <a:latin typeface="Montserrat"/>
              </a:rPr>
              <a:t>Сначала — категория из теста</a:t>
            </a:r>
            <a:endParaRPr sz="1500" b="1" dirty="0">
              <a:solidFill>
                <a:srgbClr val="FF005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Группу задаёт подтверждённый грейд против грейда вакансии: совпадает, на ступень рядом или далеко.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434" y="2694737"/>
            <a:ext cx="3738192" cy="90178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520977"/>
                </a:solidFill>
                <a:latin typeface="Montserrat"/>
              </a:rPr>
              <a:t>Внутри — тест и ФСП</a:t>
            </a:r>
            <a:endParaRPr sz="1500" b="1" dirty="0">
              <a:solidFill>
                <a:srgbClr val="520977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Неподтверждённые кандидаты видны, но всегда ниже подтверждённых.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4434" y="3947465"/>
            <a:ext cx="3738192" cy="70942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8A83D1"/>
                </a:solidFill>
                <a:latin typeface="Montserrat"/>
              </a:rPr>
              <a:t>Стек — фильтр, а не вес</a:t>
            </a: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Стек, формат, город и зарплата — «для сведения», порядок не меняют.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4434" y="5148846"/>
            <a:ext cx="3738192" cy="70942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FF0053"/>
                </a:solidFill>
                <a:latin typeface="Montserrat"/>
              </a:rPr>
              <a:t>Одна строка «почему»</a:t>
            </a:r>
            <a:endParaRPr sz="1500" b="1" dirty="0">
              <a:solidFill>
                <a:srgbClr val="FF005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Под оценкой — полной фразой, почему кандидат на этом месте.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7673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13</a:t>
            </a:fld>
            <a:endParaRPr lang="ru-RU" dirty="0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675888" cy="376138"/>
          </a:xfrm>
        </p:spPr>
        <p:txBody>
          <a:bodyPr/>
          <a:lstStyle/>
          <a:p>
            <a:r>
              <a:t>ПРОВЕРКА ПОДБОРА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411480" y="5715000"/>
            <a:ext cx="5669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40 вакансий и 1000 синтетических кандидатов, разметка — по скрытому настоящему уровню. На трёх выборках P@10: 73,8–76,2 % против 54,5–66,2 % по резюме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024128"/>
            <a:ext cx="5120640" cy="1463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73,8 % против 66,2 %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Доля точно подходящих кандидатов в первой десятке: IT Match и выдача по резюме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44368"/>
            <a:ext cx="5120640" cy="1463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dirty="0">
                <a:solidFill>
                  <a:srgbClr val="FF0053"/>
                </a:solidFill>
                <a:latin typeface="Montserrat"/>
              </a:rPr>
              <a:t>0,83 против 0,77</a:t>
            </a: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Качество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порядка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в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первой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десятке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(nDCG@10)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55464"/>
            <a:ext cx="5120640" cy="1463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6,0 % против 28 %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Переоценённые в первой десятке: настоящий грейд ниже, чем нужен вакансии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673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t>ИНТЕГРАЦИЯ С ФСП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Как привязывается профиль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Что это даёт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2011680"/>
            <a:ext cx="4937760" cy="4114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Кандидат вводит ID участника ФСП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Код подтверждения приходит владельцу аккаунта ФСП: 10 минут, 5 попыток. На демо-стенде код показан на экране с пометкой «демо»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Достижения загружаются и обновляются в фоне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Один аккаунт ФСП — один профиль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API ФСП не выдаётся, поэтому работает сервис-заглушка; настоящий API подключается заменой одного клиента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011680"/>
            <a:ext cx="4937760" cy="4114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Уровень в каждой дисциплине — базовый, продвинутый, элитный — по числу призовых мест и финалов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Дисциплины между собой не сравниваются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Работодатель видит уровень без ID и названий соревнований; есть фильтр «только с ФСП»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Нет истории ФСП — кандидат проходит тот же путь и попадает в каталог, просто без надбавки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Паспорт навыков: подписанный документ с публичной ссылкой и QR-кодом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t>АРХИТЕКТУРА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43200" y="1536192"/>
            <a:ext cx="27432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0" y="1536192"/>
            <a:ext cx="2743200" cy="65836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Браузер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React-приложение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606040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11680" y="2606040"/>
            <a:ext cx="4206240" cy="65836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proxy · Caddy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HTTPS, заголовки защиты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033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7033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web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готовые файлы фронтенда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4952" y="37033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D6E3"/>
          </a:solidFill>
          <a:ln w="2540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44952" y="37033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api · FastAPI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логика и проверка прав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37033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0" y="37033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fsp-mock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заглушка ФСП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749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0749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db · PostgreSQL 16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30 таблиц, защита строк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4952" y="50749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44952" y="50749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worker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письма, сроки, ФСП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50749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94960" y="50749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Почта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SMTP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0" y="2194560"/>
            <a:ext cx="0" cy="41148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14800" y="3264408"/>
            <a:ext cx="0" cy="438912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783080" y="3264408"/>
            <a:ext cx="868680" cy="438912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193792" y="4133087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377440" y="4572000"/>
            <a:ext cx="914400" cy="50292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834640" y="5504688"/>
            <a:ext cx="210312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193792" y="5504688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937760" y="4572000"/>
            <a:ext cx="914400" cy="50292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001000" y="1600200"/>
            <a:ext cx="3611880" cy="44805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Стек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Python 3.12, FastAPI, SQLAlchemy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PostgreSQL 16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React 19, TypeScript, Vite, Tailwind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Caddy, Docker Compose</a:t>
            </a:r>
          </a:p>
          <a:p>
            <a:pPr algn="l">
              <a:spcAft>
                <a:spcPts val="0"/>
              </a:spcAft>
            </a:pPr>
            <a:r>
              <a:rPr sz="600" b="0">
                <a:solidFill>
                  <a:srgbClr val="1C1D22"/>
                </a:solidFill>
                <a:latin typeface="Montserrat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Как устроено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Наружу открыт только прокси; база и API — во внутренней сети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Бэкенд разделён на слои: API, сценарии, доступ к данным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Каждый сервис — отдельный контейнер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ТЕХНИЧЕСКАЯ ПРОРАБОТКА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16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207" y="164592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64592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Пароли — хэш argon2id. Сессия — короткий токен в памяти и сменяемый токен в защищённой cookie. Администратор входит с двухфакторной защитой. Письма уходят по STARTTLS с проверкой сертификата сервера.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251460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Персональные данные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51460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ФИО и контакты зашифрованы (AES-256-GCM). База сама отсекает чужие строки: Row Level Security на 18 таблицах. Есть согласие на обработку и удаление аккаунта (152-ФЗ).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392424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API и документация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392424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112 методов с описанием OpenAPI (Swagger). Документация сверена с кодом; CHANGELOG — что изменили после разбора с экспертами и почему.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224528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Качество кода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24528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Автотесты бэкенда, фронтенда и заглушки ФСП. На каждую отправку кода — линтер, тесты, аудит зависимостей, поиск секретов по всей истории и сквозной запуск в Docker.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093207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Запуск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65587"/>
            <a:ext cx="8229600" cy="632481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r>
              <a:rPr sz="1250" b="0" dirty="0" err="1">
                <a:solidFill>
                  <a:srgbClr val="1C1D22"/>
                </a:solidFill>
                <a:latin typeface="Montserrat"/>
              </a:rPr>
              <a:t>Две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команды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поднимают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всё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локально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: make env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make dev. </a:t>
            </a:r>
            <a:r>
              <a:rPr lang="ru-RU" sz="1250" dirty="0">
                <a:solidFill>
                  <a:srgbClr val="1C1D22"/>
                </a:solidFill>
                <a:latin typeface="Montserrat"/>
              </a:rPr>
              <a:t>Также решение развернуто по адресу </a:t>
            </a:r>
            <a:r>
              <a:rPr lang="en-GB" sz="1250" dirty="0">
                <a:solidFill>
                  <a:srgbClr val="1C1D22"/>
                </a:solidFill>
                <a:latin typeface="Montserrat"/>
              </a:rPr>
              <a:t>https://201-24-62-88.sslip.io</a:t>
            </a:r>
          </a:p>
          <a:p>
            <a:endParaRPr sz="1250" b="0" dirty="0">
              <a:solidFill>
                <a:srgbClr val="1C1D22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ЦЕННОСТЬ ДЛЯ УЧАСТНИКОВ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331720"/>
            <a:ext cx="288036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Кандидат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017520"/>
            <a:ext cx="2880360" cy="19943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1C1D22"/>
                </a:solidFill>
                <a:latin typeface="Montserrat"/>
              </a:rPr>
              <a:t>Условия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вилка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видны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до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начала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общения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нужно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рассылать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отклики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достаточно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один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раз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подтвердить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грейд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 Контакты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открываются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только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согласия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</a:t>
            </a:r>
            <a:r>
              <a:rPr lang="ru-RU" sz="1400" b="0" dirty="0">
                <a:solidFill>
                  <a:srgbClr val="1C1D22"/>
                </a:solidFill>
                <a:latin typeface="Montserrat"/>
              </a:rPr>
              <a:t> Можно оставить жалобу на мошенников. Есть рекомендации по росту.</a:t>
            </a:r>
            <a:endParaRPr sz="14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45152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331720"/>
            <a:ext cx="297180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Работодатель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017520"/>
            <a:ext cx="297180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Готовая категория проверенных специалистов вместо разбора откликов. Понятно, почему кандидат в подборке. Технические специалисты не тратят время на первичный отсев.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2331720"/>
            <a:ext cx="288036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ФСП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017520"/>
            <a:ext cx="288036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Спортивные результаты участников получают карьерную ценность. У сообщества появляется ещё одна причина участвовать в соревнованиях, у партнёров — доступ к сильным кандидатам.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517550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БИЗНЕС-МОДЕЛЬ: ГИПОТЕЗЫ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521207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Кто платит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Работодатель. Для кандидатов и участников ФСП сервис бесплатный.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5576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За что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76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Подписка на доступ к каталогу или оплата за принятое приглашение. Отметка «Проверенная компания» — отдельная услуга.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Что экономит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Время технических специалистов на первичный отсев и срок закрытия вакансии: в подборке уже проверенные кандидаты.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Как проверить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017520"/>
            <a:ext cx="2331720" cy="156350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1C1D22"/>
                </a:solidFill>
                <a:latin typeface="Montserrat"/>
              </a:rPr>
              <a:t>Пилот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компаниями-партнёрами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ФСП: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измерить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долю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принятых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приглашений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400" b="0" dirty="0">
                <a:solidFill>
                  <a:srgbClr val="1C1D22"/>
                </a:solidFill>
                <a:latin typeface="Montserrat"/>
              </a:rPr>
              <a:t>количество этапов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до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оффера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97433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ЧЕМ ОТЛИЧАЕТСЯ РЕШЕНИЕ</a:t>
            </a:r>
            <a:endParaRPr lang="ru-RU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649365"/>
              </p:ext>
            </p:extLst>
          </p:nvPr>
        </p:nvGraphicFramePr>
        <p:xfrm>
          <a:off x="457200" y="1204332"/>
          <a:ext cx="11274552" cy="51520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495"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Универсальные площадки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IT Match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520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96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Кто делает первый шаг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Кандидат откликается на вакансию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Работодатель приглашает конкретного кандидата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96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Откуда известен уровень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Из самоописания в резюме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Из теста на заявленный грейд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770"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520977"/>
                          </a:solidFill>
                          <a:latin typeface="Montserrat"/>
                        </a:rPr>
                        <a:t>Повышение уровня</a:t>
                      </a:r>
                      <a:endParaRPr sz="1300" b="1" dirty="0">
                        <a:solidFill>
                          <a:srgbClr val="520977"/>
                        </a:solidFill>
                        <a:latin typeface="Montserrat"/>
                      </a:endParaRP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 cap="flat" cmpd="sng" algn="ctr">
                      <a:solidFill>
                        <a:srgbClr val="D9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3EE"/>
                      </a:solidFill>
                    </a:lnT>
                    <a:lnB w="6350" cap="flat" cmpd="sng" algn="ctr">
                      <a:solidFill>
                        <a:srgbClr val="D9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solidFill>
                            <a:srgbClr val="1C1D22"/>
                          </a:solidFill>
                          <a:latin typeface="Montserrat"/>
                        </a:rPr>
                        <a:t>Не предусмотрено</a:t>
                      </a:r>
                      <a:endParaRPr sz="1300" b="0" dirty="0">
                        <a:solidFill>
                          <a:srgbClr val="1C1D22"/>
                        </a:solidFill>
                        <a:latin typeface="Montserrat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D9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D3EE"/>
                      </a:solidFill>
                    </a:lnT>
                    <a:lnB w="6350" cap="flat" cmpd="sng" algn="ctr">
                      <a:solidFill>
                        <a:srgbClr val="D9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«Путь роста» - что подтянуть до следующего грейда, медиана зарплаты сейчас и на следующем грейде,  аналитика рынка</a:t>
                      </a:r>
                      <a:endParaRPr sz="1300" b="1" dirty="0">
                        <a:solidFill>
                          <a:srgbClr val="2D1451"/>
                        </a:solidFill>
                        <a:latin typeface="Montserrat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D9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 cap="flat" cmpd="sng" algn="ctr">
                      <a:solidFill>
                        <a:srgbClr val="D9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232455"/>
                  </a:ext>
                </a:extLst>
              </a:tr>
              <a:tr h="652961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520977"/>
                          </a:solidFill>
                          <a:latin typeface="Montserrat"/>
                        </a:rPr>
                        <a:t>Задания</a:t>
                      </a:r>
                      <a:r>
                        <a:rPr sz="1300" b="1" dirty="0">
                          <a:solidFill>
                            <a:srgbClr val="520977"/>
                          </a:solidFill>
                          <a:latin typeface="Montserrat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520977"/>
                          </a:solidFill>
                          <a:latin typeface="Montserrat"/>
                        </a:rPr>
                        <a:t>теста</a:t>
                      </a:r>
                      <a:endParaRPr sz="1300" b="1" dirty="0">
                        <a:solidFill>
                          <a:srgbClr val="520977"/>
                        </a:solidFill>
                        <a:latin typeface="Montserrat"/>
                      </a:endParaRP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Теста нет или он общий для всех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У каждого кандидата свой набор заданий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961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520977"/>
                          </a:solidFill>
                          <a:latin typeface="Montserrat"/>
                        </a:rPr>
                        <a:t>Зарплата</a:t>
                      </a:r>
                      <a:endParaRPr sz="1300" b="1" dirty="0">
                        <a:solidFill>
                          <a:srgbClr val="520977"/>
                        </a:solidFill>
                        <a:latin typeface="Montserrat"/>
                      </a:endParaRP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Указывать необязательно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Вилка обязательна в вакансии и приглашении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96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Контакты кандидата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Доступны без его решения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Открываются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только</a:t>
                      </a:r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после</a:t>
                      </a:r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согласия</a:t>
                      </a:r>
                      <a:endParaRPr sz="1300" b="1" dirty="0">
                        <a:solidFill>
                          <a:srgbClr val="2D1451"/>
                        </a:solidFill>
                        <a:latin typeface="Montserrat"/>
                      </a:endParaRP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296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Соревнования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Строчка в резюме без проверки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Подтверждённые</a:t>
                      </a:r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данные</a:t>
                      </a:r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 ФСП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влияют</a:t>
                      </a:r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на</a:t>
                      </a:r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место</a:t>
                      </a:r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в</a:t>
                      </a:r>
                      <a:r>
                        <a:rPr sz="1300" b="1" dirty="0">
                          <a:solidFill>
                            <a:srgbClr val="2D1451"/>
                          </a:solidFill>
                          <a:latin typeface="Montserrat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D1451"/>
                          </a:solidFill>
                          <a:latin typeface="Montserrat"/>
                        </a:rPr>
                        <a:t>выдаче</a:t>
                      </a:r>
                      <a:endParaRPr sz="1300" b="1" dirty="0">
                        <a:solidFill>
                          <a:srgbClr val="2D1451"/>
                        </a:solidFill>
                        <a:latin typeface="Montserrat"/>
                      </a:endParaRP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3708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СВЕРХ ОБЯЗАТЕЛЬНОГО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21207" y="1371600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7" y="1408176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Отклик на вакансии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Кандидат сам откликается на опубликованные вакансии и видит статусы откликов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2980944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7" y="3017520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Публикация вакансий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Черновик, публикация на 14 дней, продление, входящие отклики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562856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7" y="4599432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Короткие задачи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Раз в неделю — задача от компании; ответ анонимный, компания оценивает и приглашает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1371600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1408176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Защита от фиктивных вакансий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Жалобы, модерация, лимиты приглашений, журнал раскрытия контактов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2980944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3017520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Собеседования и офферы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Слоты времени, результат с отзывом, оффер с зарплатой и сроком ответа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4562856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599432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Концепции развития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Проверка компаний по ЕГРЮЛ, интеграция с ATS, профиль для несовершеннолетних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36499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21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ПЛАНЫ РАЗВИТИЯ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92608" y="1463040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Репутация компаний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Жалобы на приглашения и публичный рейтинг отклика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78608" y="4919472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Проверка компаний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Сверка с ЕГРЮЛ и режим «только проверенные»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1463040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Реальный ФСП 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Вход через Keycloak и настоящий реестр достижений вместо заглушки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82896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Интеграция с ATS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Ключи компаний, уведомления о статусах, коннекторы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08007" y="1463040"/>
            <a:ext cx="2615184" cy="14173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 err="1">
                <a:solidFill>
                  <a:srgbClr val="FF0053"/>
                </a:solidFill>
                <a:latin typeface="Montserrat"/>
              </a:rPr>
              <a:t>Рост</a:t>
            </a:r>
            <a:r>
              <a:rPr sz="1400" b="1" dirty="0">
                <a:solidFill>
                  <a:srgbClr val="FF0053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FF0053"/>
                </a:solidFill>
                <a:latin typeface="Montserrat"/>
              </a:rPr>
              <a:t>банка</a:t>
            </a:r>
            <a:r>
              <a:rPr sz="1400" b="1" dirty="0">
                <a:solidFill>
                  <a:srgbClr val="FF0053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FF0053"/>
                </a:solidFill>
                <a:latin typeface="Montserrat"/>
              </a:rPr>
              <a:t>заданий</a:t>
            </a:r>
            <a:endParaRPr sz="1400" b="1" dirty="0">
              <a:solidFill>
                <a:srgbClr val="FF005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1C1D22"/>
                </a:solidFill>
                <a:latin typeface="Montserrat"/>
              </a:rPr>
              <a:t>Новые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специализации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задачи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с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кодом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калибровка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реальных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ответах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lang="ru-RU" sz="1200" dirty="0">
                <a:solidFill>
                  <a:srgbClr val="1C1D22"/>
                </a:solidFill>
                <a:latin typeface="Montserrat"/>
              </a:rPr>
              <a:t>Также добавление </a:t>
            </a:r>
            <a:r>
              <a:rPr lang="en-US" sz="1200" dirty="0" err="1">
                <a:solidFill>
                  <a:srgbClr val="1C1D22"/>
                </a:solidFill>
                <a:latin typeface="Montserrat"/>
              </a:rPr>
              <a:t>CodeSpace</a:t>
            </a:r>
            <a:r>
              <a:rPr lang="en-US" sz="1200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200" dirty="0">
                <a:solidFill>
                  <a:srgbClr val="1C1D22"/>
                </a:solidFill>
                <a:latin typeface="Montserrat"/>
              </a:rPr>
              <a:t>для собеседований и площадка для созвонов</a:t>
            </a:r>
            <a:endParaRPr sz="1200" b="0" dirty="0">
              <a:solidFill>
                <a:srgbClr val="1C1D22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dirty="0">
                <a:solidFill>
                  <a:srgbClr val="520977"/>
                </a:solidFill>
              </a:rPr>
              <a:t>ДОРАБОТКИ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207" y="164592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Порядок в каталоге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64592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Сначала категория по тесту, внутри — тест и ФСП. Стек, формат, город и зарплата больше не двигают кандидата; стек — фильтр. Precision@10 остался в прежнем диапазоне: 73,8–76,2 %.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251460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Фильтр грейда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51460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Отбирает только грейд, подтверждённый тестом: подпись фильтра совпадает с выдачей.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392424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Пример теста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392424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Работодатель видит, как задания следуют за вакансией, но без правильных ответов: их нет ни в интерфейсе, ни в ответе API.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224528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Объяснение «Почему»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24528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Полными фразами, без устного перевода: «Грейд Middle подтверждён тестом и совпадает с вакансией», «Нет подтверждённых результатов соревнований ФСП».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093207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Почта и секреты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65587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r>
              <a:rPr sz="1250" b="0" dirty="0" err="1">
                <a:solidFill>
                  <a:srgbClr val="1C1D22"/>
                </a:solidFill>
                <a:latin typeface="Montserrat"/>
              </a:rPr>
              <a:t>Письмо подтверждения реально уходит при регистрации; пароль почты вводится скрыто и проверяется до записи. Проверка gitleaks по всей истории — утечек секретов нет.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dirty="0">
                <a:solidFill>
                  <a:srgbClr val="520977"/>
                </a:solidFill>
              </a:rPr>
              <a:t>ПРАВИЛА, ЗАЩИТА, ИНТЕРФЕЙС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23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207" y="164592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Код ФСП на демо-стенде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64592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Показан с явной пометкой «Демо-стенд»; в рабочей системе код приходит только по каналу ФСП, в боевом режиме показ выключен.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251460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Правила видимости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51460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Записаны в README: вилка видна до согласия, контакты кандидата — только после. Провал теста не понижает грейд; без истории ФСП кандидат остаётся в выдаче.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392424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Защита почты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392424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STARTTLS проверяет сертификат почтового сервера: пароль от почты больше нельзя перехватить подменой сервера в сети.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224528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Документация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24528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README и docs сверены с кодом, цифры оценки обновлены. CHANGELOG описывает каждую доработку: что было, что стало и почему.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093207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Интерфейс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65587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r>
              <a:rPr sz="1250" b="0" dirty="0" err="1">
                <a:solidFill>
                  <a:srgbClr val="1C1D22"/>
                </a:solidFill>
                <a:latin typeface="Montserrat"/>
              </a:rPr>
              <a:t>Тёмные полосы прокрутки и выпадающие списки в Chrome и Edge на Windows; плашка cookie на главной — сайт использует только обязательные cookie.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24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ССЫЛКИ И ДОСТУПЫ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" y="1188720"/>
            <a:ext cx="4846320" cy="350506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520977"/>
                </a:solidFill>
                <a:latin typeface="Montserrat"/>
              </a:rPr>
              <a:t>Прототип</a:t>
            </a:r>
            <a:endParaRPr sz="1200" b="1" dirty="0">
              <a:solidFill>
                <a:srgbClr val="520977"/>
              </a:solidFill>
              <a:latin typeface="Montserrat"/>
            </a:endParaRPr>
          </a:p>
          <a:p>
            <a:pPr algn="l">
              <a:spcAft>
                <a:spcPts val="900"/>
              </a:spcAft>
            </a:pPr>
            <a:r>
              <a:rPr lang="en-GB" sz="1250" b="0" dirty="0">
                <a:solidFill>
                  <a:srgbClr val="1C1D22"/>
                </a:solidFill>
                <a:latin typeface="Montserrat"/>
              </a:rPr>
              <a:t>https://201-24-62-88.sslip.io</a:t>
            </a:r>
          </a:p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520977"/>
                </a:solidFill>
                <a:latin typeface="Montserrat"/>
              </a:rPr>
              <a:t>Описание</a:t>
            </a:r>
            <a:r>
              <a:rPr sz="1200" b="1" dirty="0">
                <a:solidFill>
                  <a:srgbClr val="520977"/>
                </a:solidFill>
                <a:latin typeface="Montserrat"/>
              </a:rPr>
              <a:t> API</a:t>
            </a: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1C1D22"/>
                </a:solidFill>
                <a:latin typeface="Montserrat"/>
              </a:rPr>
              <a:t>https://201-24-62-88.sslip.io/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api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-docs/</a:t>
            </a:r>
          </a:p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520977"/>
                </a:solidFill>
                <a:latin typeface="Montserrat"/>
              </a:rPr>
              <a:t>Репозиторий</a:t>
            </a:r>
            <a:endParaRPr sz="1200" b="1" dirty="0">
              <a:solidFill>
                <a:srgbClr val="520977"/>
              </a:solidFill>
              <a:latin typeface="Montserrat"/>
            </a:endParaRPr>
          </a:p>
          <a:p>
            <a:pPr algn="l">
              <a:spcAft>
                <a:spcPts val="90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github.com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/LaimOr127/Digital-platform-aggregator-of-IT-vacancies-FSP-</a:t>
            </a:r>
          </a:p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520977"/>
                </a:solidFill>
                <a:latin typeface="Montserrat"/>
              </a:rPr>
              <a:t>Демо-вход</a:t>
            </a:r>
            <a:r>
              <a:rPr lang="ru-RU" sz="1200" b="1" dirty="0">
                <a:solidFill>
                  <a:srgbClr val="520977"/>
                </a:solidFill>
                <a:latin typeface="Montserrat"/>
              </a:rPr>
              <a:t> (можно зарегистрироваться своей почтой)</a:t>
            </a:r>
            <a:endParaRPr sz="1200" b="1" dirty="0">
              <a:solidFill>
                <a:srgbClr val="520977"/>
              </a:solidFill>
              <a:latin typeface="Montserrat"/>
            </a:endParaRPr>
          </a:p>
          <a:p>
            <a:r>
              <a:rPr lang="en-RU" sz="1250" dirty="0"/>
              <a:t>Кандидат:</a:t>
            </a:r>
          </a:p>
          <a:p>
            <a:r>
              <a:rPr lang="en-RU" sz="1250" dirty="0"/>
              <a:t>demo-candidate@example.org</a:t>
            </a:r>
          </a:p>
          <a:p>
            <a:r>
              <a:rPr lang="en-RU" sz="1250" dirty="0"/>
              <a:t>Demo2e978f6bb16f</a:t>
            </a:r>
          </a:p>
          <a:p>
            <a:r>
              <a:rPr lang="en-RU" sz="1250" dirty="0"/>
              <a:t>Компания:</a:t>
            </a:r>
          </a:p>
          <a:p>
            <a:r>
              <a:rPr lang="en-RU" sz="1250" dirty="0"/>
              <a:t>demo-hr@example.org</a:t>
            </a:r>
          </a:p>
          <a:p>
            <a:r>
              <a:rPr lang="en-RU" sz="1250" dirty="0"/>
              <a:t>Demo2e978f6bb16f</a:t>
            </a:r>
          </a:p>
          <a:p>
            <a:pPr algn="l">
              <a:spcAft>
                <a:spcPts val="100"/>
              </a:spcAft>
            </a:pPr>
            <a:r>
              <a:rPr sz="1200" b="1" dirty="0">
                <a:solidFill>
                  <a:srgbClr val="520977"/>
                </a:solidFill>
                <a:latin typeface="Montserrat"/>
              </a:rPr>
              <a:t>ID </a:t>
            </a:r>
            <a:r>
              <a:rPr sz="1200" b="1" dirty="0" err="1">
                <a:solidFill>
                  <a:srgbClr val="520977"/>
                </a:solidFill>
                <a:latin typeface="Montserrat"/>
              </a:rPr>
              <a:t>для</a:t>
            </a:r>
            <a:r>
              <a:rPr sz="1200" b="1" dirty="0">
                <a:solidFill>
                  <a:srgbClr val="520977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520977"/>
                </a:solidFill>
                <a:latin typeface="Montserrat"/>
              </a:rPr>
              <a:t>привязки</a:t>
            </a:r>
            <a:r>
              <a:rPr sz="1200" b="1" dirty="0">
                <a:solidFill>
                  <a:srgbClr val="520977"/>
                </a:solidFill>
                <a:latin typeface="Montserrat"/>
              </a:rPr>
              <a:t> ФСП</a:t>
            </a: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1C1D22"/>
                </a:solidFill>
                <a:latin typeface="Montserrat"/>
              </a:rPr>
              <a:t>FSP-24001 … FSP-24007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400590"/>
            <a:ext cx="3044825" cy="108132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dirty="0" err="1">
                <a:solidFill>
                  <a:srgbClr val="FFFFFF"/>
                </a:solidFill>
                <a:latin typeface="Montserrat"/>
              </a:rPr>
              <a:t>Спасибо</a:t>
            </a:r>
            <a:r>
              <a:rPr sz="4400" b="1" dirty="0">
                <a:solidFill>
                  <a:srgbClr val="FFFFFF"/>
                </a:solidFill>
                <a:latin typeface="Montserrat"/>
              </a:rPr>
              <a:t>!</a:t>
            </a:r>
          </a:p>
          <a:p>
            <a:pPr algn="l">
              <a:spcAft>
                <a:spcPts val="0"/>
              </a:spcAft>
            </a:pPr>
            <a:r>
              <a:rPr lang="ru-RU" sz="1600" dirty="0">
                <a:solidFill>
                  <a:srgbClr val="FFFFFF"/>
                </a:solidFill>
                <a:latin typeface="Montserrat"/>
              </a:rPr>
              <a:t>Видео работоспособности</a:t>
            </a:r>
            <a:r>
              <a:rPr lang="ru-RU" sz="1600" b="0" dirty="0">
                <a:solidFill>
                  <a:srgbClr val="FFFFFF"/>
                </a:solidFill>
                <a:latin typeface="Montserrat"/>
              </a:rPr>
              <a:t>: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08520-BE53-7F5B-8CCF-D389B2B14D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810" y="3752850"/>
            <a:ext cx="2400300" cy="2400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9785D9-AB0A-3075-E49C-EFF23D32E0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125" y="3752850"/>
            <a:ext cx="2400301" cy="24003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50E8DC-A8BE-959F-7DF4-8BC6CCD674DD}"/>
              </a:ext>
            </a:extLst>
          </p:cNvPr>
          <p:cNvSpPr txBox="1"/>
          <p:nvPr/>
        </p:nvSpPr>
        <p:spPr>
          <a:xfrm>
            <a:off x="9382125" y="3143358"/>
            <a:ext cx="2463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FFFFFF"/>
                </a:solidFill>
                <a:latin typeface="Montserrat"/>
              </a:rPr>
              <a:t>Резервный </a:t>
            </a:r>
            <a:r>
              <a:rPr lang="en-US" sz="1600" dirty="0">
                <a:solidFill>
                  <a:srgbClr val="FFFFFF"/>
                </a:solidFill>
                <a:latin typeface="Montserrat"/>
              </a:rPr>
              <a:t>QR: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11394</TotalTime>
  <Words>2458</Words>
  <Application>Microsoft Macintosh PowerPoint</Application>
  <PresentationFormat>Widescreen</PresentationFormat>
  <Paragraphs>354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Montserrat</vt:lpstr>
      <vt:lpstr>Wingdings</vt:lpstr>
      <vt:lpstr>Для Академия инноваторов 16_9</vt:lpstr>
      <vt:lpstr>IT MATCH</vt:lpstr>
      <vt:lpstr>IT MATCH</vt:lpstr>
      <vt:lpstr>КОМАНДА</vt:lpstr>
      <vt:lpstr>О КОМАНДЕ И ЗАДАЧЕ</vt:lpstr>
      <vt:lpstr>КОРОТКО О РЕШЕНИИ</vt:lpstr>
      <vt:lpstr>ЧТО НЕ ТАК С ПОИСКОМ РАБОТЫ В ИТ</vt:lpstr>
      <vt:lpstr>ОБРАТНАЯ МЕХАНИКА ПОДБОРА</vt:lpstr>
      <vt:lpstr>КАБИНЕТ КАНДИДАТА</vt:lpstr>
      <vt:lpstr>КАБИНЕТ РАБОТОДАТЕЛЯ</vt:lpstr>
      <vt:lpstr>МЕХАНИКА ТЕСТИРОВАНИЯ</vt:lpstr>
      <vt:lpstr>ПРОВЕРКА ТЕСТИРОВАНИЯ</vt:lpstr>
      <vt:lpstr>МЕХАНИКА ПОДБОРА</vt:lpstr>
      <vt:lpstr>ПРОВЕРКА ПОДБОРА</vt:lpstr>
      <vt:lpstr>ИНТЕГРАЦИЯ С ФСП</vt:lpstr>
      <vt:lpstr>АРХИТЕКТУРА</vt:lpstr>
      <vt:lpstr>ТЕХНИЧЕСКАЯ ПРОРАБОТКА</vt:lpstr>
      <vt:lpstr>ЦЕННОСТЬ ДЛЯ УЧАСТНИКОВ</vt:lpstr>
      <vt:lpstr>БИЗНЕС-МОДЕЛЬ: ГИПОТЕЗЫ</vt:lpstr>
      <vt:lpstr>ЧЕМ ОТЛИЧАЕТСЯ РЕШЕНИЕ</vt:lpstr>
      <vt:lpstr>СВЕРХ ОБЯЗАТЕЛЬНОГО</vt:lpstr>
      <vt:lpstr>ПЛАНЫ РАЗВИТИЯ</vt:lpstr>
      <vt:lpstr>ДОРАБОТКИ</vt:lpstr>
      <vt:lpstr>ПРАВИЛА, ЗАЩИТА, ИНТЕРФЕЙС</vt:lpstr>
      <vt:lpstr>ССЫЛКИ И ДОСТУПЫ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Вика Вертаева</cp:lastModifiedBy>
  <cp:revision>107</cp:revision>
  <dcterms:created xsi:type="dcterms:W3CDTF">2023-05-15T07:36:23Z</dcterms:created>
  <dcterms:modified xsi:type="dcterms:W3CDTF">2026-10-21T19:58:04Z</dcterms:modified>
</cp:coreProperties>
</file>