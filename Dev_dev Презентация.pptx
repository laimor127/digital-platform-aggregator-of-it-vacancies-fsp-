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4"/>
  </p:notesMasterIdLst>
  <p:handoutMasterIdLst>
    <p:handoutMasterId r:id="rId25"/>
  </p:handoutMasterIdLst>
  <p:sldIdLst>
    <p:sldId id="365" r:id="rId2"/>
    <p:sldId id="366" r:id="rId3"/>
    <p:sldId id="362" r:id="rId4"/>
    <p:sldId id="364" r:id="rId5"/>
    <p:sldId id="375" r:id="rId6"/>
    <p:sldId id="374" r:id="rId7"/>
    <p:sldId id="267" r:id="rId8"/>
    <p:sldId id="262" r:id="rId9"/>
    <p:sldId id="371" r:id="rId10"/>
    <p:sldId id="268" r:id="rId11"/>
    <p:sldId id="378" r:id="rId12"/>
    <p:sldId id="266" r:id="rId13"/>
    <p:sldId id="263" r:id="rId14"/>
    <p:sldId id="381" r:id="rId15"/>
    <p:sldId id="372" r:id="rId16"/>
    <p:sldId id="370" r:id="rId17"/>
    <p:sldId id="377" r:id="rId18"/>
    <p:sldId id="376" r:id="rId19"/>
    <p:sldId id="379" r:id="rId20"/>
    <p:sldId id="260" r:id="rId21"/>
    <p:sldId id="380" r:id="rId22"/>
    <p:sldId id="373" r:id="rId23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/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74"/>
            <p14:sldId id="267"/>
            <p14:sldId id="262"/>
            <p14:sldId id="371"/>
            <p14:sldId id="268"/>
            <p14:sldId id="378"/>
            <p14:sldId id="266"/>
            <p14:sldId id="263"/>
            <p14:sldId id="381"/>
            <p14:sldId id="372"/>
            <p14:sldId id="370"/>
            <p14:sldId id="377"/>
            <p14:sldId id="376"/>
            <p14:sldId id="379"/>
            <p14:sldId id="260"/>
            <p14:sldId id="380"/>
            <p14:sldId id="373"/>
          </p14:sldIdLst>
        </p14:section>
        <p14:section name="Материалы" id="{0F84D0DE-CEB1-417E-B269-8B3EB04B5FA6}">
          <p14:sldIdLst/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9886" autoAdjust="0"/>
    <p:restoredTop sz="95763"/>
  </p:normalViewPr>
  <p:slideViewPr>
    <p:cSldViewPr snapToGrid="0" showGuides="1">
      <p:cViewPr varScale="1">
        <p:scale>
          <a:sx n="56" d="100"/>
          <a:sy n="56" d="100"/>
        </p:scale>
        <p:origin x="192" y="1512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Доля верных ответов, %</c:v>
                </c:pt>
              </c:strCache>
            </c:strRef>
          </c:tx>
          <c:spPr>
            <a:solidFill>
              <a:srgbClr val="FF0053"/>
            </a:solidFill>
          </c:spPr>
          <c:invertIfNegative val="1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/>
                </a:pPr>
                <a:endParaRPr lang="en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Стажёр</c:v>
                </c:pt>
                <c:pt idx="1">
                  <c:v>Junior</c:v>
                </c:pt>
                <c:pt idx="2">
                  <c:v>Middle</c:v>
                </c:pt>
                <c:pt idx="3">
                  <c:v>Senior</c:v>
                </c:pt>
                <c:pt idx="4">
                  <c:v>Lead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23.3</c:v>
                </c:pt>
                <c:pt idx="1">
                  <c:v>37.299999999999997</c:v>
                </c:pt>
                <c:pt idx="2">
                  <c:v>56.7</c:v>
                </c:pt>
                <c:pt idx="3">
                  <c:v>77.400000000000006</c:v>
                </c:pt>
                <c:pt idx="4">
                  <c:v>93.5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1699-614A-9380-C2C468CFA7CF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8A83D1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10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100">
          <a:solidFill>
            <a:srgbClr val="1C1D22"/>
          </a:solidFill>
          <a:latin typeface="Montserrat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353261129492993"/>
          <c:y val="0.12693525390367644"/>
          <c:w val="0.86424170750053264"/>
          <c:h val="0.66747142271661164"/>
        </c:manualLayout>
      </c:layout>
      <c:barChart>
        <c:barDir val="bar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Баллы</c:v>
                </c:pt>
              </c:strCache>
            </c:strRef>
          </c:tx>
          <c:spPr>
            <a:solidFill>
              <a:srgbClr val="FF0053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>
                    <a:solidFill>
                      <a:srgbClr val="1C1D22"/>
                    </a:solidFill>
                  </a:defRPr>
                </a:pPr>
                <a:endParaRPr lang="en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Зарплата</c:v>
                </c:pt>
                <c:pt idx="1">
                  <c:v>Формат и город</c:v>
                </c:pt>
                <c:pt idx="2">
                  <c:v>Свежесть</c:v>
                </c:pt>
                <c:pt idx="3">
                  <c:v>Описание</c:v>
                </c:pt>
                <c:pt idx="4">
                  <c:v>Достижения ФСП</c:v>
                </c:pt>
                <c:pt idx="5">
                  <c:v>Навыки</c:v>
                </c:pt>
                <c:pt idx="6">
                  <c:v>Результат теста</c:v>
                </c:pt>
                <c:pt idx="7">
                  <c:v>Категория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10</c:v>
                </c:pt>
                <c:pt idx="5">
                  <c:v>20</c:v>
                </c:pt>
                <c:pt idx="6">
                  <c:v>20</c:v>
                </c:pt>
                <c:pt idx="7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rgbClr val="1C1D22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  <c:max val="34"/>
        </c:scaling>
        <c:delete val="1"/>
        <c:axPos val="b"/>
        <c:numFmt formatCode="General" sourceLinked="1"/>
        <c:majorTickMark val="none"/>
        <c:minorTickMark val="none"/>
        <c:tickLblPos val="nextTo"/>
        <c:crossAx val="1688540351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1688300241682354E-2"/>
          <c:y val="0.12693525390367644"/>
          <c:w val="0.92608602339057544"/>
          <c:h val="0.6674714227166116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IT Match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</a:defRPr>
                </a:pPr>
                <a:endParaRPr lang="en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Precision@5, %</c:v>
                </c:pt>
                <c:pt idx="1">
                  <c:v>Precision@10, %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77.5</c:v>
                </c:pt>
                <c:pt idx="1">
                  <c:v>76.8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Выдача по резюме</c:v>
                </c:pt>
              </c:strCache>
            </c:strRef>
          </c:tx>
          <c:spPr>
            <a:solidFill>
              <a:schemeClr val="accent2"/>
            </a:solidFill>
            <a:ln w="63500">
              <a:noFill/>
            </a:ln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</a:defRPr>
                </a:pPr>
                <a:endParaRPr lang="en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Precision@5, %</c:v>
                </c:pt>
                <c:pt idx="1">
                  <c:v>Precision@10, %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66.5</c:v>
                </c:pt>
                <c:pt idx="1">
                  <c:v>66.2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E86-41F6-8A85-7879D9C60F88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00"/>
        <c:overlap val="-20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  <c:max val="100"/>
          <c:min val="0"/>
        </c:scaling>
        <c:delete val="0"/>
        <c:axPos val="l"/>
        <c:majorGridlines>
          <c:spPr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20"/>
      </c:valAx>
      <c:spPr>
        <a:noFill/>
        <a:ln w="25400">
          <a:noFill/>
        </a:ln>
        <a:effectLst/>
      </c:spPr>
    </c:plotArea>
    <c:legend>
      <c:legendPos val="b"/>
      <c:layout>
        <c:manualLayout>
          <c:xMode val="edge"/>
          <c:yMode val="edge"/>
          <c:x val="3.0340673321854045E-2"/>
          <c:y val="0.93820074285734689"/>
          <c:w val="0.94740055839426573"/>
          <c:h val="6.179925714265312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bg1"/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1">
    <c:autoUpdate val="0"/>
  </c:externalData>
</c:chartSpac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10.10.2026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10.10.2026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84792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10.10.2026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10.10.2026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10.10.2026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10.10.2026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10.10.2026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10.10.2026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10.10.2026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10.10.2026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10.10.2026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10.10.2026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10.10.2026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10.10.2026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endParaRPr/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endParaRPr/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endParaRPr/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endParaRPr/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endParaRPr/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endParaRPr/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10.10.2026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10.10.2026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endParaRPr/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endParaRPr/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endParaRPr/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endParaRPr/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endParaRPr/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endParaRPr/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endParaRPr/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endParaRPr/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10.10.2026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endParaRPr/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endParaRPr/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endParaRPr/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endParaRPr/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endParaRPr/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endParaRPr/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endParaRPr/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endParaRPr/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endParaRPr/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endParaRPr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10.10.2026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10.10.2026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10.10.2026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10.10.2026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10.10.2026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10.10.2026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.jpg"/><Relationship Id="rId4" Type="http://schemas.openxmlformats.org/officeDocument/2006/relationships/image" Target="../media/image5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t>IT MATCH</a:t>
            </a:r>
            <a:endParaRPr lang="ru-RU" sz="4800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pPr marL="271463" indent="-3175"/>
            <a:r>
              <a:rPr lang="ru-RU" dirty="0"/>
              <a:t>Цифровая платформа-агрегатор ИТ-вакансий </a:t>
            </a:r>
            <a:br>
              <a:rPr lang="ru-RU" dirty="0"/>
            </a:br>
            <a:r>
              <a:rPr lang="ru-RU" dirty="0"/>
              <a:t>с верифицированным профилем достижений </a:t>
            </a:r>
            <a:br>
              <a:rPr lang="ru-RU" dirty="0"/>
            </a:br>
            <a:r>
              <a:rPr lang="ru-RU" dirty="0"/>
              <a:t>участника Федерации спортивного программирования (ФСП)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0FC7892-251B-3371-00B1-416B799F0D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075" y="631174"/>
            <a:ext cx="4905194" cy="62003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74320" y="5257800"/>
            <a:ext cx="8229600" cy="301621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r>
              <a:rPr sz="1600" b="1" dirty="0" err="1">
                <a:solidFill>
                  <a:srgbClr val="FFFFFF"/>
                </a:solidFill>
                <a:latin typeface="Montserrat"/>
              </a:rPr>
              <a:t>Команда</a:t>
            </a:r>
            <a:r>
              <a:rPr sz="1600" b="1" dirty="0">
                <a:solidFill>
                  <a:srgbClr val="FFFFFF"/>
                </a:solidFill>
                <a:latin typeface="Montserrat"/>
              </a:rPr>
              <a:t> «</a:t>
            </a:r>
            <a:r>
              <a:rPr lang="en-GB" sz="1600" b="1" dirty="0" err="1">
                <a:solidFill>
                  <a:srgbClr val="FFFFFF"/>
                </a:solidFill>
                <a:latin typeface="Montserrat"/>
              </a:rPr>
              <a:t>Dev_dev</a:t>
            </a:r>
            <a:r>
              <a:rPr sz="1600" b="1" dirty="0">
                <a:solidFill>
                  <a:srgbClr val="FFFFFF"/>
                </a:solidFill>
                <a:latin typeface="Montserrat"/>
              </a:rPr>
              <a:t>»</a:t>
            </a: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13716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Грейд подтверждает тест, а не резюме. Задания собираются из параметрических шаблонов, поэтому утечка ответов почти не помогает. Достижения ФСП поднимают кандидата внутри категории.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rPr>
                <a:solidFill>
                  <a:srgbClr val="520977"/>
                </a:solidFill>
              </a:rPr>
              <a:t>IT MATCH</a:t>
            </a:r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173736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Веб-платформа с обратной механикой подбора. Кандидат проходит опрос и тест на грейд и получает категорию. Работодатель сам находит его в анонимном каталоге и приглашает с вилкой зарплаты.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2</a:t>
            </a:fld>
            <a:endParaRPr lang="ru-RU" sz="1200" dirty="0">
              <a:solidFill>
                <a:schemeClr val="accent5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0" y="338328"/>
            <a:ext cx="6455664" cy="2633472"/>
          </a:xfrm>
          <a:prstGeom prst="rect">
            <a:avLst/>
          </a:prstGeom>
          <a:solidFill>
            <a:srgbClr val="5209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93192" y="868680"/>
            <a:ext cx="5669280" cy="173736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Montserrat"/>
              </a:rPr>
              <a:t>Работодатель</a:t>
            </a:r>
            <a:r>
              <a:rPr sz="2400" b="1" dirty="0">
                <a:solidFill>
                  <a:srgbClr val="FFFFFF"/>
                </a:solidFill>
                <a:latin typeface="Montserrat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Montserrat"/>
              </a:rPr>
              <a:t>находит</a:t>
            </a:r>
            <a:r>
              <a:rPr sz="2400" b="1" dirty="0">
                <a:solidFill>
                  <a:srgbClr val="FFFFFF"/>
                </a:solidFill>
                <a:latin typeface="Montserrat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Montserrat"/>
              </a:rPr>
              <a:t>кандидата</a:t>
            </a:r>
            <a:r>
              <a:rPr sz="2400" b="1" dirty="0">
                <a:solidFill>
                  <a:srgbClr val="FFFFFF"/>
                </a:solidFill>
                <a:latin typeface="Montserrat"/>
              </a:rPr>
              <a:t>,</a:t>
            </a:r>
          </a:p>
          <a:p>
            <a:pPr algn="l">
              <a:spcAft>
                <a:spcPts val="1000"/>
              </a:spcAft>
            </a:pPr>
            <a:r>
              <a:rPr sz="2400" b="1" dirty="0" err="1">
                <a:solidFill>
                  <a:srgbClr val="FFD6E3"/>
                </a:solidFill>
                <a:latin typeface="Montserrat"/>
              </a:rPr>
              <a:t>а</a:t>
            </a:r>
            <a:r>
              <a:rPr sz="2400" b="1" dirty="0">
                <a:solidFill>
                  <a:srgbClr val="FFD6E3"/>
                </a:solidFill>
                <a:latin typeface="Montserrat"/>
              </a:rPr>
              <a:t> </a:t>
            </a:r>
            <a:r>
              <a:rPr sz="2400" b="1" dirty="0" err="1">
                <a:solidFill>
                  <a:srgbClr val="FFD6E3"/>
                </a:solidFill>
                <a:latin typeface="Montserrat"/>
              </a:rPr>
              <a:t>не</a:t>
            </a:r>
            <a:r>
              <a:rPr sz="2400" b="1" dirty="0">
                <a:solidFill>
                  <a:srgbClr val="FFD6E3"/>
                </a:solidFill>
                <a:latin typeface="Montserrat"/>
              </a:rPr>
              <a:t> </a:t>
            </a:r>
            <a:r>
              <a:rPr sz="2400" b="1" dirty="0" err="1">
                <a:solidFill>
                  <a:srgbClr val="FFD6E3"/>
                </a:solidFill>
                <a:latin typeface="Montserrat"/>
              </a:rPr>
              <a:t>кандидат</a:t>
            </a:r>
            <a:r>
              <a:rPr sz="2400" b="1" dirty="0">
                <a:solidFill>
                  <a:srgbClr val="FFD6E3"/>
                </a:solidFill>
                <a:latin typeface="Montserrat"/>
              </a:rPr>
              <a:t> — </a:t>
            </a:r>
            <a:r>
              <a:rPr sz="2400" b="1" dirty="0" err="1">
                <a:solidFill>
                  <a:srgbClr val="FFD6E3"/>
                </a:solidFill>
                <a:latin typeface="Montserrat"/>
              </a:rPr>
              <a:t>вакансию</a:t>
            </a:r>
            <a:endParaRPr sz="2400" b="1" dirty="0">
              <a:solidFill>
                <a:srgbClr val="FFD6E3"/>
              </a:solidFill>
              <a:latin typeface="Montserrat"/>
            </a:endParaRPr>
          </a:p>
          <a:p>
            <a:pPr algn="l">
              <a:spcAft>
                <a:spcPts val="0"/>
              </a:spcAft>
            </a:pPr>
            <a:r>
              <a:rPr sz="1400" b="0" dirty="0" err="1">
                <a:solidFill>
                  <a:srgbClr val="FFFFFF"/>
                </a:solidFill>
                <a:latin typeface="Montserrat"/>
              </a:rPr>
              <a:t>Платформа</a:t>
            </a:r>
            <a:r>
              <a:rPr sz="1400" b="0" dirty="0">
                <a:solidFill>
                  <a:srgbClr val="FFFFFF"/>
                </a:solidFill>
                <a:latin typeface="Montserrat"/>
              </a:rPr>
              <a:t> </a:t>
            </a:r>
            <a:r>
              <a:rPr sz="1400" b="0" dirty="0" err="1">
                <a:solidFill>
                  <a:srgbClr val="FFFFFF"/>
                </a:solidFill>
                <a:latin typeface="Montserrat"/>
              </a:rPr>
              <a:t>подбора</a:t>
            </a:r>
            <a:r>
              <a:rPr sz="1400" b="0" dirty="0">
                <a:solidFill>
                  <a:srgbClr val="FFFFFF"/>
                </a:solidFill>
                <a:latin typeface="Montserrat"/>
              </a:rPr>
              <a:t> ИТ-</a:t>
            </a:r>
            <a:r>
              <a:rPr sz="1400" b="0" dirty="0" err="1">
                <a:solidFill>
                  <a:srgbClr val="FFFFFF"/>
                </a:solidFill>
                <a:latin typeface="Montserrat"/>
              </a:rPr>
              <a:t>специалистов</a:t>
            </a:r>
            <a:r>
              <a:rPr sz="1400" b="0" dirty="0">
                <a:solidFill>
                  <a:srgbClr val="FFFFFF"/>
                </a:solidFill>
                <a:latin typeface="Montserrat"/>
              </a:rPr>
              <a:t> </a:t>
            </a:r>
            <a:r>
              <a:rPr sz="1400" b="0" dirty="0" err="1">
                <a:solidFill>
                  <a:srgbClr val="FFFFFF"/>
                </a:solidFill>
                <a:latin typeface="Montserrat"/>
              </a:rPr>
              <a:t>с</a:t>
            </a:r>
            <a:r>
              <a:rPr sz="1400" b="0" dirty="0">
                <a:solidFill>
                  <a:srgbClr val="FFFFFF"/>
                </a:solidFill>
                <a:latin typeface="Montserrat"/>
              </a:rPr>
              <a:t> </a:t>
            </a:r>
            <a:r>
              <a:rPr sz="1400" b="0" dirty="0" err="1">
                <a:solidFill>
                  <a:srgbClr val="FFFFFF"/>
                </a:solidFill>
                <a:latin typeface="Montserrat"/>
              </a:rPr>
              <a:t>подтверждённым</a:t>
            </a:r>
            <a:r>
              <a:rPr sz="1400" b="0" dirty="0">
                <a:solidFill>
                  <a:srgbClr val="FFFFFF"/>
                </a:solidFill>
                <a:latin typeface="Montserrat"/>
              </a:rPr>
              <a:t> </a:t>
            </a:r>
            <a:r>
              <a:rPr sz="1400" b="0" dirty="0" err="1">
                <a:solidFill>
                  <a:srgbClr val="FFFFFF"/>
                </a:solidFill>
                <a:latin typeface="Montserrat"/>
              </a:rPr>
              <a:t>грейдом</a:t>
            </a:r>
            <a:r>
              <a:rPr sz="1400" b="0" dirty="0">
                <a:solidFill>
                  <a:srgbClr val="FFFFFF"/>
                </a:solidFill>
                <a:latin typeface="Montserrat"/>
              </a:rPr>
              <a:t> </a:t>
            </a:r>
            <a:r>
              <a:rPr sz="1400" b="0" dirty="0" err="1">
                <a:solidFill>
                  <a:srgbClr val="FFFFFF"/>
                </a:solidFill>
                <a:latin typeface="Montserrat"/>
              </a:rPr>
              <a:t>и</a:t>
            </a:r>
            <a:r>
              <a:rPr sz="1400" b="0" dirty="0">
                <a:solidFill>
                  <a:srgbClr val="FFFFFF"/>
                </a:solidFill>
                <a:latin typeface="Montserrat"/>
              </a:rPr>
              <a:t> </a:t>
            </a:r>
            <a:r>
              <a:rPr sz="1400" b="0" dirty="0" err="1">
                <a:solidFill>
                  <a:srgbClr val="FFFFFF"/>
                </a:solidFill>
                <a:latin typeface="Montserrat"/>
              </a:rPr>
              <a:t>достижениями</a:t>
            </a:r>
            <a:r>
              <a:rPr sz="1400" b="0" dirty="0">
                <a:solidFill>
                  <a:srgbClr val="FFFFFF"/>
                </a:solidFill>
                <a:latin typeface="Montserrat"/>
              </a:rPr>
              <a:t> ФСП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" y="3931920"/>
            <a:ext cx="5760720" cy="1148007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marL="200025" indent="-200025" algn="l">
              <a:spcAft>
                <a:spcPts val="600"/>
              </a:spcAft>
              <a:buClr>
                <a:srgbClr val="FF0053"/>
              </a:buClr>
              <a:buFont typeface="Arial"/>
              <a:buChar char="•"/>
            </a:pPr>
            <a:r>
              <a:rPr sz="1400" b="1" dirty="0" err="1">
                <a:solidFill>
                  <a:srgbClr val="1C1D22"/>
                </a:solidFill>
                <a:latin typeface="Montserrat"/>
              </a:rPr>
              <a:t>Капитан</a:t>
            </a:r>
            <a:r>
              <a:rPr sz="1400" b="1" dirty="0">
                <a:solidFill>
                  <a:srgbClr val="1C1D22"/>
                </a:solidFill>
                <a:latin typeface="Montserrat"/>
              </a:rPr>
              <a:t>:</a:t>
            </a:r>
            <a:r>
              <a:rPr lang="ru-RU" sz="1400" b="1" dirty="0">
                <a:solidFill>
                  <a:srgbClr val="1C1D22"/>
                </a:solidFill>
                <a:latin typeface="Montserrat"/>
              </a:rPr>
              <a:t> </a:t>
            </a:r>
            <a:r>
              <a:rPr lang="ru-RU" sz="1400" b="1" dirty="0" err="1">
                <a:solidFill>
                  <a:srgbClr val="1C1D22"/>
                </a:solidFill>
                <a:latin typeface="Montserrat"/>
              </a:rPr>
              <a:t>Припадчев</a:t>
            </a:r>
            <a:r>
              <a:rPr lang="ru-RU" sz="1400" b="1" dirty="0">
                <a:solidFill>
                  <a:srgbClr val="1C1D22"/>
                </a:solidFill>
                <a:latin typeface="Montserrat"/>
              </a:rPr>
              <a:t> Алексей</a:t>
            </a:r>
            <a:endParaRPr sz="1400" b="0" dirty="0">
              <a:solidFill>
                <a:srgbClr val="1C1D22"/>
              </a:solidFill>
              <a:latin typeface="Montserrat"/>
            </a:endParaRPr>
          </a:p>
          <a:p>
            <a:pPr marL="200025" indent="-200025" algn="l">
              <a:spcAft>
                <a:spcPts val="600"/>
              </a:spcAft>
              <a:buClr>
                <a:srgbClr val="FF0053"/>
              </a:buClr>
              <a:buFont typeface="Arial"/>
              <a:buChar char="•"/>
            </a:pPr>
            <a:r>
              <a:rPr sz="1400" b="1" dirty="0" err="1">
                <a:solidFill>
                  <a:srgbClr val="1C1D22"/>
                </a:solidFill>
                <a:latin typeface="Montserrat"/>
              </a:rPr>
              <a:t>Участников</a:t>
            </a:r>
            <a:r>
              <a:rPr sz="1400" b="1" dirty="0">
                <a:solidFill>
                  <a:srgbClr val="1C1D22"/>
                </a:solidFill>
                <a:latin typeface="Montserrat"/>
              </a:rPr>
              <a:t>: </a:t>
            </a:r>
            <a:r>
              <a:rPr sz="1400" b="0" dirty="0">
                <a:solidFill>
                  <a:srgbClr val="1C1D22"/>
                </a:solidFill>
                <a:latin typeface="Montserrat"/>
              </a:rPr>
              <a:t>3 </a:t>
            </a:r>
            <a:r>
              <a:rPr sz="1400" b="0" dirty="0" err="1">
                <a:solidFill>
                  <a:srgbClr val="1C1D22"/>
                </a:solidFill>
                <a:latin typeface="Montserrat"/>
              </a:rPr>
              <a:t>человека</a:t>
            </a:r>
            <a:endParaRPr sz="1400" b="0" dirty="0">
              <a:solidFill>
                <a:srgbClr val="1C1D22"/>
              </a:solidFill>
              <a:latin typeface="Montserrat"/>
            </a:endParaRPr>
          </a:p>
          <a:p>
            <a:pPr marL="200025" indent="-200025" algn="l">
              <a:spcAft>
                <a:spcPts val="600"/>
              </a:spcAft>
              <a:buClr>
                <a:srgbClr val="FF0053"/>
              </a:buClr>
              <a:buFont typeface="Arial"/>
              <a:buChar char="•"/>
            </a:pPr>
            <a:r>
              <a:rPr sz="1400" b="1" dirty="0" err="1">
                <a:solidFill>
                  <a:srgbClr val="1C1D22"/>
                </a:solidFill>
                <a:latin typeface="Montserrat"/>
              </a:rPr>
              <a:t>Состав</a:t>
            </a:r>
            <a:r>
              <a:rPr sz="1400" b="1" dirty="0">
                <a:solidFill>
                  <a:srgbClr val="1C1D22"/>
                </a:solidFill>
                <a:latin typeface="Montserrat"/>
              </a:rPr>
              <a:t>: </a:t>
            </a:r>
            <a:r>
              <a:rPr sz="1400" b="0" dirty="0" err="1">
                <a:solidFill>
                  <a:srgbClr val="1C1D22"/>
                </a:solidFill>
                <a:latin typeface="Montserrat"/>
              </a:rPr>
              <a:t>два</a:t>
            </a:r>
            <a:r>
              <a:rPr sz="1400" b="0" dirty="0">
                <a:solidFill>
                  <a:srgbClr val="1C1D22"/>
                </a:solidFill>
                <a:latin typeface="Montserrat"/>
              </a:rPr>
              <a:t> </a:t>
            </a:r>
            <a:r>
              <a:rPr sz="1400" b="0" dirty="0" err="1">
                <a:solidFill>
                  <a:srgbClr val="1C1D22"/>
                </a:solidFill>
                <a:latin typeface="Montserrat"/>
              </a:rPr>
              <a:t>разработчика</a:t>
            </a:r>
            <a:r>
              <a:rPr sz="1400" b="0" dirty="0">
                <a:solidFill>
                  <a:srgbClr val="1C1D22"/>
                </a:solidFill>
                <a:latin typeface="Montserrat"/>
              </a:rPr>
              <a:t> </a:t>
            </a:r>
            <a:r>
              <a:rPr sz="1400" b="0" dirty="0" err="1">
                <a:solidFill>
                  <a:srgbClr val="1C1D22"/>
                </a:solidFill>
                <a:latin typeface="Montserrat"/>
              </a:rPr>
              <a:t>и</a:t>
            </a:r>
            <a:r>
              <a:rPr sz="1400" b="0" dirty="0">
                <a:solidFill>
                  <a:srgbClr val="1C1D22"/>
                </a:solidFill>
                <a:latin typeface="Montserrat"/>
              </a:rPr>
              <a:t> </a:t>
            </a:r>
            <a:r>
              <a:rPr sz="1400" b="0" dirty="0" err="1">
                <a:solidFill>
                  <a:srgbClr val="1C1D22"/>
                </a:solidFill>
                <a:latin typeface="Montserrat"/>
              </a:rPr>
              <a:t>системный</a:t>
            </a:r>
            <a:r>
              <a:rPr sz="1400" b="0" dirty="0">
                <a:solidFill>
                  <a:srgbClr val="1C1D22"/>
                </a:solidFill>
                <a:latin typeface="Montserrat"/>
              </a:rPr>
              <a:t> </a:t>
            </a:r>
            <a:r>
              <a:rPr sz="1400" b="0" dirty="0" err="1">
                <a:solidFill>
                  <a:srgbClr val="1C1D22"/>
                </a:solidFill>
                <a:latin typeface="Montserrat"/>
              </a:rPr>
              <a:t>аналитик</a:t>
            </a:r>
            <a:endParaRPr sz="1400" b="0" dirty="0">
              <a:solidFill>
                <a:srgbClr val="1C1D22"/>
              </a:solidFill>
              <a:latin typeface="Montserrat"/>
            </a:endParaRPr>
          </a:p>
          <a:p>
            <a:pPr marL="200025" indent="-200025" algn="l">
              <a:spcAft>
                <a:spcPts val="600"/>
              </a:spcAft>
              <a:buClr>
                <a:srgbClr val="FF0053"/>
              </a:buClr>
              <a:buFont typeface="Arial"/>
              <a:buChar char="•"/>
            </a:pPr>
            <a:r>
              <a:rPr sz="1400" b="1" dirty="0" err="1">
                <a:solidFill>
                  <a:srgbClr val="1C1D22"/>
                </a:solidFill>
                <a:latin typeface="Montserrat"/>
              </a:rPr>
              <a:t>Город</a:t>
            </a:r>
            <a:r>
              <a:rPr sz="1400" b="1" dirty="0">
                <a:solidFill>
                  <a:srgbClr val="1C1D22"/>
                </a:solidFill>
                <a:latin typeface="Montserrat"/>
              </a:rPr>
              <a:t> </a:t>
            </a:r>
            <a:r>
              <a:rPr sz="1400" b="1" dirty="0" err="1">
                <a:solidFill>
                  <a:srgbClr val="1C1D22"/>
                </a:solidFill>
                <a:latin typeface="Montserrat"/>
              </a:rPr>
              <a:t>и</a:t>
            </a:r>
            <a:r>
              <a:rPr sz="1400" b="1" dirty="0">
                <a:solidFill>
                  <a:srgbClr val="1C1D22"/>
                </a:solidFill>
                <a:latin typeface="Montserrat"/>
              </a:rPr>
              <a:t> </a:t>
            </a:r>
            <a:r>
              <a:rPr sz="1400" b="1" dirty="0" err="1">
                <a:solidFill>
                  <a:srgbClr val="1C1D22"/>
                </a:solidFill>
                <a:latin typeface="Montserrat"/>
              </a:rPr>
              <a:t>регион</a:t>
            </a:r>
            <a:r>
              <a:rPr sz="1400" b="1" dirty="0">
                <a:solidFill>
                  <a:srgbClr val="1C1D22"/>
                </a:solidFill>
                <a:latin typeface="Montserrat"/>
              </a:rPr>
              <a:t>: </a:t>
            </a:r>
            <a:r>
              <a:rPr lang="ru-RU" sz="1400" dirty="0">
                <a:solidFill>
                  <a:srgbClr val="1C1D22"/>
                </a:solidFill>
                <a:latin typeface="Montserrat"/>
              </a:rPr>
              <a:t>Москва</a:t>
            </a:r>
            <a:endParaRPr sz="1400" b="0" dirty="0">
              <a:solidFill>
                <a:srgbClr val="1C1D22"/>
              </a:solidFill>
              <a:latin typeface="Montserrat"/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Разработчик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chemeClr val="tx1"/>
                </a:solidFill>
              </a:rPr>
              <a:t>@LaimOr127</a:t>
            </a: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+79164313055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Московский политех, ИАС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Алексей </a:t>
            </a:r>
            <a:r>
              <a:rPr lang="ru-RU" sz="1600" b="1" dirty="0" err="1">
                <a:solidFill>
                  <a:schemeClr val="accent5"/>
                </a:solidFill>
              </a:rPr>
              <a:t>Припадчев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495671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Разработчик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chemeClr val="tx1"/>
                </a:solidFill>
              </a:rPr>
              <a:t>@</a:t>
            </a:r>
            <a:r>
              <a:rPr lang="en-GB" sz="1200" dirty="0" err="1">
                <a:solidFill>
                  <a:schemeClr val="tx1"/>
                </a:solidFill>
              </a:rPr>
              <a:t>Stas_Marchuk</a:t>
            </a: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+79153126043</a:t>
            </a:r>
          </a:p>
          <a:p>
            <a:pPr marL="0" indent="0" fontAlgn="base">
              <a:spcBef>
                <a:spcPts val="600"/>
              </a:spcBef>
              <a:buNone/>
            </a:pP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Станислав Марчук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726203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Системный аналитик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@</a:t>
            </a:r>
            <a:r>
              <a:rPr lang="en-US" sz="1200" dirty="0" err="1">
                <a:solidFill>
                  <a:schemeClr val="tx1"/>
                </a:solidFill>
              </a:rPr>
              <a:t>vkvrtv</a:t>
            </a: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+79250990322</a:t>
            </a: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Московский политех, ДИТ Москвы</a:t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Виктория Вертаева</a:t>
            </a: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195681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3</a:t>
            </a:fld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C01AD4D0-0883-97F4-EF5E-184A94A0CBA9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940" b="16940"/>
          <a:stretch>
            <a:fillRect/>
          </a:stretch>
        </p:blipFill>
        <p:spPr>
          <a:xfrm>
            <a:off x="2886075" y="1827213"/>
            <a:ext cx="1722438" cy="1541462"/>
          </a:xfrm>
          <a:prstGeom prst="rect">
            <a:avLst/>
          </a:prstGeom>
        </p:spPr>
      </p:pic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191784" y="1809238"/>
            <a:ext cx="1722567" cy="1559717"/>
          </a:xfrm>
        </p:spPr>
      </p:sp>
      <p:pic>
        <p:nvPicPr>
          <p:cNvPr id="9" name="Picture Placeholder 8">
            <a:extLst>
              <a:ext uri="{FF2B5EF4-FFF2-40B4-BE49-F238E27FC236}">
                <a16:creationId xmlns:a16="http://schemas.microsoft.com/office/drawing/2014/main" id="{8087B8B0-648A-88E0-B345-F3295FF45B21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060" b="16060"/>
          <a:stretch>
            <a:fillRect/>
          </a:stretch>
        </p:blipFill>
        <p:spPr>
          <a:xfrm>
            <a:off x="7519988" y="1809750"/>
            <a:ext cx="1722437" cy="1558925"/>
          </a:xfrm>
          <a:prstGeom prst="rect">
            <a:avLst/>
          </a:prstGeom>
        </p:spPr>
      </p:pic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t>КОМАНДА</a:t>
            </a:r>
            <a:endParaRPr lang="ru-RU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4169663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t>О КОМАНДЕ И ЗАДАЧЕ</a:t>
            </a:r>
            <a:endParaRPr lang="ru-RU" dirty="0">
              <a:latin typeface="+mn-lt"/>
            </a:endParaRP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9966960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Три человека: два разработчика и системный аналитик. Ранее принимали участие в хакатоне для мессенджера </a:t>
            </a:r>
            <a:r>
              <a:rPr lang="en-US" dirty="0">
                <a:solidFill>
                  <a:schemeClr val="tx1"/>
                </a:solidFill>
              </a:rPr>
              <a:t>Max – </a:t>
            </a:r>
            <a:r>
              <a:rPr lang="ru-RU" dirty="0">
                <a:solidFill>
                  <a:schemeClr val="tx1"/>
                </a:solidFill>
              </a:rPr>
              <a:t>поняли, что вместе можем делать классные решения, решили попробовать 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4919472"/>
            <a:ext cx="9966960" cy="13716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Тест на стажёра проходили случайные ответы — в 52 % попыток. Ввели минимум верных ответов и пересобрали уровни заданий: стало 1,3 %.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API ФСП не выдаётся — сделали отдельный сервис-заглушку и клиент, который заменяется на настоящий без переделки остального кода.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Эталонной разметки нет — построили синтетическую выборку со скрытым настоящим уровнем и считаем метрики одной командой.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36576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сложностями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9966960" cy="82296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Здесь квалификацию подтверждает проверка, а не резюме. Нам было интересно спроектировать саму механику: тест, устойчивый к утечке заданий, и подбор, который может объяснить каждое место в выдаче.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5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5216" y="2011680"/>
            <a:ext cx="4937760" cy="402336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marL="200025" indent="-200025" algn="l">
              <a:spcAft>
                <a:spcPts val="1000"/>
              </a:spcAft>
              <a:buClr>
                <a:srgbClr val="FF0053"/>
              </a:buClr>
              <a:buFont typeface="Arial"/>
              <a:buChar char="•"/>
            </a:pPr>
            <a:r>
              <a:rPr sz="1500" b="0">
                <a:solidFill>
                  <a:srgbClr val="1C1D22"/>
                </a:solidFill>
                <a:latin typeface="Montserrat"/>
              </a:rPr>
              <a:t>FastAPI, PostgreSQL 16 и React 19 в Docker Compose; запуск одной командой</a:t>
            </a:r>
          </a:p>
          <a:p>
            <a:pPr marL="200025" indent="-200025" algn="l">
              <a:spcAft>
                <a:spcPts val="1000"/>
              </a:spcAft>
              <a:buClr>
                <a:srgbClr val="FF0053"/>
              </a:buClr>
              <a:buFont typeface="Arial"/>
              <a:buChar char="•"/>
            </a:pPr>
            <a:r>
              <a:rPr sz="1500" b="0">
                <a:solidFill>
                  <a:srgbClr val="1C1D22"/>
                </a:solidFill>
                <a:latin typeface="Montserrat"/>
              </a:rPr>
              <a:t>Тест на грейд: банк из 114 параметрических шаблонов, уровень оценивает модель IRT</a:t>
            </a:r>
          </a:p>
          <a:p>
            <a:pPr marL="200025" indent="-200025" algn="l">
              <a:spcAft>
                <a:spcPts val="1000"/>
              </a:spcAft>
              <a:buClr>
                <a:srgbClr val="FF0053"/>
              </a:buClr>
              <a:buFont typeface="Arial"/>
              <a:buChar char="•"/>
            </a:pPr>
            <a:r>
              <a:rPr sz="1500" b="0">
                <a:solidFill>
                  <a:srgbClr val="1C1D22"/>
                </a:solidFill>
                <a:latin typeface="Montserrat"/>
              </a:rPr>
              <a:t>Подбор: 8 объяснимых факторов, подтверждённые кандидаты всегда выше неподтверждённых</a:t>
            </a:r>
          </a:p>
          <a:p>
            <a:pPr marL="200025" indent="-200025" algn="l">
              <a:spcAft>
                <a:spcPts val="1000"/>
              </a:spcAft>
              <a:buClr>
                <a:srgbClr val="FF0053"/>
              </a:buClr>
              <a:buFont typeface="Arial"/>
              <a:buChar char="•"/>
            </a:pPr>
            <a:r>
              <a:rPr sz="1500" b="0">
                <a:solidFill>
                  <a:srgbClr val="1C1D22"/>
                </a:solidFill>
                <a:latin typeface="Montserrat"/>
              </a:rPr>
              <a:t>ФИО и контакты зашифрованы, чужие строки отсекает сама база</a:t>
            </a:r>
          </a:p>
          <a:p>
            <a:pPr marL="200025" indent="-200025" algn="l">
              <a:spcAft>
                <a:spcPts val="1000"/>
              </a:spcAft>
              <a:buClr>
                <a:srgbClr val="FF0053"/>
              </a:buClr>
              <a:buFont typeface="Arial"/>
              <a:buChar char="•"/>
            </a:pPr>
            <a:r>
              <a:rPr sz="1500" b="0">
                <a:solidFill>
                  <a:srgbClr val="1C1D22"/>
                </a:solidFill>
                <a:latin typeface="Montserrat"/>
              </a:rPr>
              <a:t>112 методов API с описанием OpenAPI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10528" y="2011680"/>
            <a:ext cx="4937760" cy="402336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marL="200025" indent="-200025" algn="l">
              <a:spcAft>
                <a:spcPts val="1000"/>
              </a:spcAft>
              <a:buClr>
                <a:srgbClr val="FF0053"/>
              </a:buClr>
              <a:buFont typeface="Arial"/>
              <a:buChar char="•"/>
            </a:pPr>
            <a:r>
              <a:rPr sz="1500" b="0">
                <a:solidFill>
                  <a:srgbClr val="1C1D22"/>
                </a:solidFill>
                <a:latin typeface="Montserrat"/>
              </a:rPr>
              <a:t>Работодатель получает готовую категорию проверенных кандидатов вместо потока откликов</a:t>
            </a:r>
          </a:p>
          <a:p>
            <a:pPr marL="200025" indent="-200025" algn="l">
              <a:spcAft>
                <a:spcPts val="1000"/>
              </a:spcAft>
              <a:buClr>
                <a:srgbClr val="FF0053"/>
              </a:buClr>
              <a:buFont typeface="Arial"/>
              <a:buChar char="•"/>
            </a:pPr>
            <a:r>
              <a:rPr sz="1500" b="0">
                <a:solidFill>
                  <a:srgbClr val="1C1D22"/>
                </a:solidFill>
                <a:latin typeface="Montserrat"/>
              </a:rPr>
              <a:t>Кандидат видит вилку зарплаты до начала общения</a:t>
            </a:r>
          </a:p>
          <a:p>
            <a:pPr marL="200025" indent="-200025" algn="l">
              <a:spcAft>
                <a:spcPts val="1000"/>
              </a:spcAft>
              <a:buClr>
                <a:srgbClr val="FF0053"/>
              </a:buClr>
              <a:buFont typeface="Arial"/>
              <a:buChar char="•"/>
            </a:pPr>
            <a:r>
              <a:rPr sz="1500" b="0">
                <a:solidFill>
                  <a:srgbClr val="1C1D22"/>
                </a:solidFill>
                <a:latin typeface="Montserrat"/>
              </a:rPr>
              <a:t>Участник ФСП превращает спортивные результаты в преимущество при найме</a:t>
            </a:r>
          </a:p>
          <a:p>
            <a:pPr marL="200025" indent="-200025" algn="l">
              <a:spcAft>
                <a:spcPts val="1000"/>
              </a:spcAft>
              <a:buClr>
                <a:srgbClr val="FF0053"/>
              </a:buClr>
              <a:buFont typeface="Arial"/>
              <a:buChar char="•"/>
            </a:pPr>
            <a:r>
              <a:rPr sz="1500" b="0">
                <a:solidFill>
                  <a:srgbClr val="1C1D22"/>
                </a:solidFill>
                <a:latin typeface="Montserrat"/>
              </a:rPr>
              <a:t>Дальше: реальный ФСП ID, проверка компаний, интеграция с ATS работодателей</a:t>
            </a: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6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r>
              <a:rPr>
                <a:solidFill>
                  <a:srgbClr val="520977"/>
                </a:solidFill>
              </a:rPr>
              <a:t>ЧТО НЕ ТАК С ПОИСКОМ РАБОТЫ В ИТ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22960" y="1737360"/>
            <a:ext cx="1371600" cy="54864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0">
                <a:solidFill>
                  <a:srgbClr val="FF0053"/>
                </a:solidFill>
                <a:latin typeface="Montserrat"/>
              </a:rPr>
              <a:t>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2331720"/>
            <a:ext cx="2880360" cy="548640"/>
          </a:xfrm>
          <a:prstGeom prst="rect">
            <a:avLst/>
          </a:prstGeom>
          <a:noFill/>
        </p:spPr>
        <p:txBody>
          <a:bodyPr wrap="square" lIns="36576" tIns="27432" rIns="36576" bIns="27432" anchor="b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520977"/>
                </a:solidFill>
                <a:latin typeface="Montserrat"/>
              </a:rPr>
              <a:t>Резюме не подтверждает навыки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200400"/>
            <a:ext cx="2880360" cy="274320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C1D22"/>
                </a:solidFill>
                <a:latin typeface="Montserrat"/>
              </a:rPr>
              <a:t>В резюме указаны стек и места работы, но не видно, что человек умеет на практике. Отбор сводится к совпадению ключевых слов.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45152" y="1737360"/>
            <a:ext cx="1371600" cy="54864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0">
                <a:solidFill>
                  <a:srgbClr val="FF0053"/>
                </a:solidFill>
                <a:latin typeface="Montserrat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45152" y="2331720"/>
            <a:ext cx="2971800" cy="548640"/>
          </a:xfrm>
          <a:prstGeom prst="rect">
            <a:avLst/>
          </a:prstGeom>
          <a:noFill/>
        </p:spPr>
        <p:txBody>
          <a:bodyPr wrap="square" lIns="36576" tIns="27432" rIns="36576" bIns="27432" anchor="b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520977"/>
                </a:solidFill>
                <a:latin typeface="Montserrat"/>
              </a:rPr>
              <a:t>Работодатель тонет в откликах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45152" y="3200400"/>
            <a:ext cx="2971800" cy="274320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C1D22"/>
                </a:solidFill>
                <a:latin typeface="Montserrat"/>
              </a:rPr>
              <a:t>Сотни нерелевантных откликов вручную разбирают дорогие технические специалисты.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77072" y="1737360"/>
            <a:ext cx="1371600" cy="54864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0">
                <a:solidFill>
                  <a:srgbClr val="FF0053"/>
                </a:solidFill>
                <a:latin typeface="Montserrat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77072" y="2331720"/>
            <a:ext cx="2880360" cy="548640"/>
          </a:xfrm>
          <a:prstGeom prst="rect">
            <a:avLst/>
          </a:prstGeom>
          <a:noFill/>
        </p:spPr>
        <p:txBody>
          <a:bodyPr wrap="square" lIns="36576" tIns="27432" rIns="36576" bIns="27432" anchor="b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520977"/>
                </a:solidFill>
                <a:latin typeface="Montserrat"/>
              </a:rPr>
              <a:t>Кандидат откликается вслепую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77072" y="3200400"/>
            <a:ext cx="2880360" cy="274320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C1D22"/>
                </a:solidFill>
                <a:latin typeface="Montserrat"/>
              </a:rPr>
              <a:t>Условия неизвестны заранее, обратной связи нет. Издержки несут обе стороны, а результат подбора слабый.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557784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7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ОБРАТНАЯ МЕХАНИКА ПОДБОРА</a:t>
            </a:r>
            <a:endParaRPr lang="ru-RU" dirty="0"/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55" name="TextBox 54"/>
          <p:cNvSpPr txBox="1"/>
          <p:nvPr/>
        </p:nvSpPr>
        <p:spPr>
          <a:xfrm>
            <a:off x="292608" y="1463040"/>
            <a:ext cx="2615184" cy="1063368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dirty="0" err="1">
                <a:solidFill>
                  <a:srgbClr val="FF0053"/>
                </a:solidFill>
                <a:latin typeface="Montserrat"/>
              </a:rPr>
              <a:t>Профиль</a:t>
            </a:r>
            <a:endParaRPr sz="1500" b="1" dirty="0">
              <a:solidFill>
                <a:srgbClr val="FF0053"/>
              </a:solidFill>
              <a:latin typeface="Montserrat"/>
            </a:endParaRPr>
          </a:p>
          <a:p>
            <a:pPr algn="l">
              <a:spcAft>
                <a:spcPts val="0"/>
              </a:spcAft>
            </a:pPr>
            <a:r>
              <a:rPr sz="1200" b="0" dirty="0" err="1">
                <a:solidFill>
                  <a:srgbClr val="1C1D22"/>
                </a:solidFill>
                <a:latin typeface="Montserrat"/>
              </a:rPr>
              <a:t>Регистрация</a:t>
            </a:r>
            <a:r>
              <a:rPr sz="1200" b="0" dirty="0">
                <a:solidFill>
                  <a:srgbClr val="1C1D22"/>
                </a:solidFill>
                <a:latin typeface="Montserrat"/>
              </a:rPr>
              <a:t> </a:t>
            </a:r>
            <a:r>
              <a:rPr lang="ru-RU" sz="1200" b="0" dirty="0">
                <a:solidFill>
                  <a:srgbClr val="1C1D22"/>
                </a:solidFill>
                <a:latin typeface="Montserrat"/>
              </a:rPr>
              <a:t>с подтверждением почты</a:t>
            </a:r>
            <a:r>
              <a:rPr sz="1200" b="0" dirty="0">
                <a:solidFill>
                  <a:srgbClr val="1C1D22"/>
                </a:solidFill>
                <a:latin typeface="Montserrat"/>
              </a:rPr>
              <a:t>; </a:t>
            </a:r>
            <a:r>
              <a:rPr sz="1200" b="0" dirty="0" err="1">
                <a:solidFill>
                  <a:srgbClr val="1C1D22"/>
                </a:solidFill>
                <a:latin typeface="Montserrat"/>
              </a:rPr>
              <a:t>профиль</a:t>
            </a:r>
            <a:r>
              <a:rPr sz="1200" b="0" dirty="0">
                <a:solidFill>
                  <a:srgbClr val="1C1D22"/>
                </a:solidFill>
                <a:latin typeface="Montserrat"/>
              </a:rPr>
              <a:t> </a:t>
            </a:r>
            <a:r>
              <a:rPr sz="1200" b="0" dirty="0" err="1">
                <a:solidFill>
                  <a:srgbClr val="1C1D22"/>
                </a:solidFill>
                <a:latin typeface="Montserrat"/>
              </a:rPr>
              <a:t>вручную</a:t>
            </a:r>
            <a:r>
              <a:rPr sz="1200" b="0" dirty="0">
                <a:solidFill>
                  <a:srgbClr val="1C1D22"/>
                </a:solidFill>
                <a:latin typeface="Montserrat"/>
              </a:rPr>
              <a:t> </a:t>
            </a:r>
            <a:r>
              <a:rPr sz="1200" b="0" dirty="0" err="1">
                <a:solidFill>
                  <a:srgbClr val="1C1D22"/>
                </a:solidFill>
                <a:latin typeface="Montserrat"/>
              </a:rPr>
              <a:t>или</a:t>
            </a:r>
            <a:r>
              <a:rPr sz="1200" b="0" dirty="0">
                <a:solidFill>
                  <a:srgbClr val="1C1D22"/>
                </a:solidFill>
                <a:latin typeface="Montserrat"/>
              </a:rPr>
              <a:t> </a:t>
            </a:r>
            <a:r>
              <a:rPr sz="1200" b="0" dirty="0" err="1">
                <a:solidFill>
                  <a:srgbClr val="1C1D22"/>
                </a:solidFill>
                <a:latin typeface="Montserrat"/>
              </a:rPr>
              <a:t>из</a:t>
            </a:r>
            <a:r>
              <a:rPr sz="1200" b="0" dirty="0">
                <a:solidFill>
                  <a:srgbClr val="1C1D22"/>
                </a:solidFill>
                <a:latin typeface="Montserrat"/>
              </a:rPr>
              <a:t> PDF-</a:t>
            </a:r>
            <a:r>
              <a:rPr sz="1200" b="0" dirty="0" err="1">
                <a:solidFill>
                  <a:srgbClr val="1C1D22"/>
                </a:solidFill>
                <a:latin typeface="Montserrat"/>
              </a:rPr>
              <a:t>резюме</a:t>
            </a:r>
            <a:endParaRPr sz="1200" b="0" dirty="0">
              <a:solidFill>
                <a:srgbClr val="1C1D22"/>
              </a:solidFill>
              <a:latin typeface="Montserrat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2578608" y="4919472"/>
            <a:ext cx="2615184" cy="141732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0053"/>
                </a:solidFill>
                <a:latin typeface="Montserrat"/>
              </a:rPr>
              <a:t>Опрос и тест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Специализация, грейд, 15 заданий за 25 минут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754880" y="1463040"/>
            <a:ext cx="2615184" cy="141732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0053"/>
                </a:solidFill>
                <a:latin typeface="Montserrat"/>
              </a:rPr>
              <a:t>Категория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Специализация и подтверждённый грейд; анонимная карточка в каталоге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59168" y="4882896"/>
            <a:ext cx="2615184" cy="141732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0053"/>
                </a:solidFill>
                <a:latin typeface="Montserrat"/>
              </a:rPr>
              <a:t>Приглашение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Работодатель находит кандидата и приглашает с вилкой зарплаты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208007" y="1463040"/>
            <a:ext cx="2615184" cy="141732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0053"/>
                </a:solidFill>
                <a:latin typeface="Montserrat"/>
              </a:rPr>
              <a:t>Контакт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Кандидат принял — компания видит контакты; дальше собеседование и оффер</a:t>
            </a:r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968496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8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КАБИНЕТ КАНДИДАТА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621792" y="1600200"/>
            <a:ext cx="4846320" cy="438912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520977"/>
                </a:solidFill>
                <a:latin typeface="Montserrat"/>
              </a:rPr>
              <a:t>Что умеет кабинет</a:t>
            </a:r>
          </a:p>
          <a:p>
            <a:pPr marL="200025" indent="-200025" algn="l">
              <a:spcAft>
                <a:spcPts val="1000"/>
              </a:spcAft>
              <a:buClr>
                <a:srgbClr val="FF0053"/>
              </a:buClr>
              <a:buFont typeface="Arial"/>
              <a:buChar char="•"/>
            </a:pPr>
            <a:r>
              <a:rPr sz="1500" b="0">
                <a:solidFill>
                  <a:srgbClr val="1C1D22"/>
                </a:solidFill>
                <a:latin typeface="Montserrat"/>
              </a:rPr>
              <a:t>Профиль: вручную, из PDF- или DOCX-резюме, из анкеты ФСП</a:t>
            </a:r>
          </a:p>
          <a:p>
            <a:pPr marL="200025" indent="-200025" algn="l">
              <a:spcAft>
                <a:spcPts val="1000"/>
              </a:spcAft>
              <a:buClr>
                <a:srgbClr val="FF0053"/>
              </a:buClr>
              <a:buFont typeface="Arial"/>
              <a:buChar char="•"/>
            </a:pPr>
            <a:r>
              <a:rPr sz="1500" b="0">
                <a:solidFill>
                  <a:srgbClr val="1C1D22"/>
                </a:solidFill>
                <a:latin typeface="Montserrat"/>
              </a:rPr>
              <a:t>Тест на грейд и история попыток</a:t>
            </a:r>
          </a:p>
          <a:p>
            <a:pPr marL="200025" indent="-200025" algn="l">
              <a:spcAft>
                <a:spcPts val="1000"/>
              </a:spcAft>
              <a:buClr>
                <a:srgbClr val="FF0053"/>
              </a:buClr>
              <a:buFont typeface="Arial"/>
              <a:buChar char="•"/>
            </a:pPr>
            <a:r>
              <a:rPr sz="1500" b="0">
                <a:solidFill>
                  <a:srgbClr val="1C1D22"/>
                </a:solidFill>
                <a:latin typeface="Montserrat"/>
              </a:rPr>
              <a:t>Приглашения с вилкой зарплаты: принять или отклонить</a:t>
            </a:r>
          </a:p>
          <a:p>
            <a:pPr marL="200025" indent="-200025" algn="l">
              <a:spcAft>
                <a:spcPts val="1000"/>
              </a:spcAft>
              <a:buClr>
                <a:srgbClr val="FF0053"/>
              </a:buClr>
              <a:buFont typeface="Arial"/>
              <a:buChar char="•"/>
            </a:pPr>
            <a:r>
              <a:rPr sz="1500" b="0">
                <a:solidFill>
                  <a:srgbClr val="1C1D22"/>
                </a:solidFill>
                <a:latin typeface="Montserrat"/>
              </a:rPr>
              <a:t>Лента вакансий и свои отклики со статусами</a:t>
            </a:r>
          </a:p>
          <a:p>
            <a:pPr marL="200025" indent="-200025" algn="l">
              <a:spcAft>
                <a:spcPts val="1000"/>
              </a:spcAft>
              <a:buClr>
                <a:srgbClr val="FF0053"/>
              </a:buClr>
              <a:buFont typeface="Arial"/>
              <a:buChar char="•"/>
            </a:pPr>
            <a:r>
              <a:rPr sz="1500" b="0">
                <a:solidFill>
                  <a:srgbClr val="1C1D22"/>
                </a:solidFill>
                <a:latin typeface="Montserrat"/>
              </a:rPr>
              <a:t>Собеседования и офферы</a:t>
            </a:r>
          </a:p>
          <a:p>
            <a:pPr marL="200025" indent="-200025" algn="l">
              <a:spcAft>
                <a:spcPts val="1000"/>
              </a:spcAft>
              <a:buClr>
                <a:srgbClr val="FF0053"/>
              </a:buClr>
              <a:buFont typeface="Arial"/>
              <a:buChar char="•"/>
            </a:pPr>
            <a:r>
              <a:rPr sz="1500" b="0">
                <a:solidFill>
                  <a:srgbClr val="1C1D22"/>
                </a:solidFill>
                <a:latin typeface="Montserrat"/>
              </a:rPr>
              <a:t>Радар зарплат и навыки для следующего грейда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1399032"/>
            <a:ext cx="5532120" cy="73152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520977"/>
                </a:solidFill>
                <a:latin typeface="Montserrat"/>
              </a:rPr>
              <a:t>Приватность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Кандидат решает, показывать ли зарплатные ожидания, достижения ФСП и раздел «о себе»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44768" y="2414016"/>
            <a:ext cx="5532120" cy="73152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520977"/>
                </a:solidFill>
                <a:latin typeface="Montserrat"/>
              </a:rPr>
              <a:t>Согласие и удаление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Согласие на обработку данных при регистрации; аккаунт удаляется по паролю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44768" y="3419856"/>
            <a:ext cx="5532120" cy="73152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520977"/>
                </a:solidFill>
                <a:latin typeface="Montserrat"/>
              </a:rPr>
              <a:t>Профиль в PDF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Стандартизированный профиль печатается одной кнопкой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44768" y="4434840"/>
            <a:ext cx="5532120" cy="73152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520977"/>
                </a:solidFill>
                <a:latin typeface="Montserrat"/>
              </a:rPr>
              <a:t>Паспорт навыков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Подписанный снимок грейда и навыков с публичной ссылкой и QR-кодом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44768" y="5449824"/>
            <a:ext cx="5532120" cy="73152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520977"/>
                </a:solidFill>
                <a:latin typeface="Montserrat"/>
              </a:rPr>
              <a:t>Только свои данные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Кандидат видит лишь свои приглашения и отклики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4572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КАБИНЕТ РАБОТОДАТЕЛЯ</a:t>
            </a:r>
            <a:endParaRPr lang="ru-RU" dirty="0"/>
          </a:p>
        </p:txBody>
      </p:sp>
      <p:sp>
        <p:nvSpPr>
          <p:cNvPr id="28" name="TextBox 27"/>
          <p:cNvSpPr txBox="1"/>
          <p:nvPr/>
        </p:nvSpPr>
        <p:spPr>
          <a:xfrm>
            <a:off x="521207" y="1691640"/>
            <a:ext cx="1371600" cy="54864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0">
                <a:solidFill>
                  <a:srgbClr val="FF0053"/>
                </a:solidFill>
                <a:latin typeface="Montserrat"/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1207" y="2286000"/>
            <a:ext cx="2331720" cy="548640"/>
          </a:xfrm>
          <a:prstGeom prst="rect">
            <a:avLst/>
          </a:prstGeom>
          <a:noFill/>
        </p:spPr>
        <p:txBody>
          <a:bodyPr wrap="square" lIns="36576" tIns="27432" rIns="36576" bIns="27432" anchor="b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520977"/>
                </a:solidFill>
                <a:latin typeface="Montserrat"/>
              </a:rPr>
              <a:t>Потребность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7" y="3017520"/>
            <a:ext cx="2331720" cy="301752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C1D22"/>
                </a:solidFill>
                <a:latin typeface="Montserrat"/>
              </a:rPr>
              <a:t>Вакансия или запрос: специализация, грейд, стек, формат, город, вилка. Подсказка рынка показывает, сколько кандидатов подходит.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65576" y="1691640"/>
            <a:ext cx="1371600" cy="54864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0">
                <a:solidFill>
                  <a:srgbClr val="FF0053"/>
                </a:solidFill>
                <a:latin typeface="Montserrat"/>
              </a:rPr>
              <a:t>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65576" y="2286000"/>
            <a:ext cx="2331720" cy="548640"/>
          </a:xfrm>
          <a:prstGeom prst="rect">
            <a:avLst/>
          </a:prstGeom>
          <a:noFill/>
        </p:spPr>
        <p:txBody>
          <a:bodyPr wrap="square" lIns="36576" tIns="27432" rIns="36576" bIns="27432" anchor="b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520977"/>
                </a:solidFill>
                <a:latin typeface="Montserrat"/>
              </a:rPr>
              <a:t>Каталог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65576" y="3017520"/>
            <a:ext cx="2331720" cy="301752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C1D22"/>
                </a:solidFill>
                <a:latin typeface="Montserrat"/>
              </a:rPr>
              <a:t>Матрица 7 специализаций на 5 грейдов. Анонимные карточки, фильтры по стеку, городу и ФСП. Кнопка «Почему» объясняет место в выдаче.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1691640"/>
            <a:ext cx="1371600" cy="54864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0">
                <a:solidFill>
                  <a:srgbClr val="FF0053"/>
                </a:solidFill>
                <a:latin typeface="Montserrat"/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2286000"/>
            <a:ext cx="2331720" cy="548640"/>
          </a:xfrm>
          <a:prstGeom prst="rect">
            <a:avLst/>
          </a:prstGeom>
          <a:noFill/>
        </p:spPr>
        <p:txBody>
          <a:bodyPr wrap="square" lIns="36576" tIns="27432" rIns="36576" bIns="27432" anchor="b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520977"/>
                </a:solidFill>
                <a:latin typeface="Montserrat"/>
              </a:rPr>
              <a:t>Приглашение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3017520"/>
            <a:ext cx="2331720" cy="301752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C1D22"/>
                </a:solidFill>
                <a:latin typeface="Montserrat"/>
              </a:rPr>
              <a:t>Конкретному кандидату, без обязательной вакансии. Вилка зарплаты и способ связи обязательны. Статус видят обе стороны.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5168" y="1691640"/>
            <a:ext cx="1371600" cy="54864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0">
                <a:solidFill>
                  <a:srgbClr val="FF0053"/>
                </a:solidFill>
                <a:latin typeface="Montserrat"/>
              </a:rPr>
              <a:t>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45168" y="2286000"/>
            <a:ext cx="2331720" cy="548640"/>
          </a:xfrm>
          <a:prstGeom prst="rect">
            <a:avLst/>
          </a:prstGeom>
          <a:noFill/>
        </p:spPr>
        <p:txBody>
          <a:bodyPr wrap="square" lIns="36576" tIns="27432" rIns="36576" bIns="27432" anchor="b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520977"/>
                </a:solidFill>
                <a:latin typeface="Montserrat"/>
              </a:rPr>
              <a:t>Контакт и найм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45168" y="3017520"/>
            <a:ext cx="2331720" cy="301752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C1D22"/>
                </a:solidFill>
                <a:latin typeface="Montserrat"/>
              </a:rPr>
              <a:t>Контакты открываются после согласия кандидата, каждое раскрытие пишется в журнал. Дальше — слоты собеседования и оффер.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477316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МЕХАНИКА ТЕСТИРОВАНИЯ</a:t>
            </a:r>
            <a:endParaRPr lang="ru-RU" dirty="0"/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/>
          <p:cNvSpPr txBox="1"/>
          <p:nvPr/>
        </p:nvSpPr>
        <p:spPr>
          <a:xfrm>
            <a:off x="640080" y="3200400"/>
            <a:ext cx="3310128" cy="301752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Банк шаблонов, а не список вопросов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1C1D22"/>
                </a:solidFill>
                <a:latin typeface="Montserrat"/>
              </a:rPr>
              <a:t>114 параметрических шаблонов. Числа, формулировки и варианты ответов подставляются при каждой генерации: из 200 генераций одного шаблона получается 176 разных заданий (медиана).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535424" y="3200400"/>
            <a:ext cx="3310128" cy="301752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Оценка уровня, а не процент верных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1C1D22"/>
                </a:solidFill>
                <a:latin typeface="Montserrat"/>
              </a:rPr>
              <a:t>15 заданий разной сложности за 25 минут. Статистическая модель IRT (3PL) оценивает уровень кандидата; тест сдан, если уровень не ниже порога грейда.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39912" y="3200400"/>
            <a:ext cx="3310128" cy="301752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Правила попыток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1C1D22"/>
                </a:solidFill>
                <a:latin typeface="Montserrat"/>
              </a:rPr>
              <a:t>Не сдал — сразу доступен тест на грейд ниже; этот грейд и выше закрыты на 14 дней. Сдал уверенно — можно пробовать выше. Подтверждённый грейд меняется не чаще раза в 90 дней.</a:t>
            </a:r>
          </a:p>
        </p:txBody>
      </p: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477316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11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ПРОВЕРКА ТЕСТИРОВАНИЯ</a:t>
            </a:r>
            <a:endParaRPr lang="ru-RU" dirty="0"/>
          </a:p>
        </p:txBody>
      </p:sp>
      <p:sp>
        <p:nvSpPr>
          <p:cNvPr id="24" name="TextBox 23"/>
          <p:cNvSpPr txBox="1"/>
          <p:nvPr/>
        </p:nvSpPr>
        <p:spPr>
          <a:xfrm>
            <a:off x="457200" y="1097280"/>
            <a:ext cx="11247120" cy="32004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A5B66"/>
                </a:solidFill>
                <a:latin typeface="Montserrat"/>
              </a:rPr>
              <a:t>1000 синтетических кандидатов со скрытым настоящим уровнем; расчёт воспроизводится одной командой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1481328"/>
            <a:ext cx="2697480" cy="68580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FF0053"/>
                </a:solidFill>
                <a:latin typeface="Montserrat"/>
              </a:rPr>
              <a:t>65,6 %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2176272"/>
            <a:ext cx="2560320" cy="54864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C1D22"/>
                </a:solidFill>
                <a:latin typeface="Montserrat"/>
              </a:rPr>
              <a:t>грейд по тесту совпал с настоящим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10128" y="1481328"/>
            <a:ext cx="2697480" cy="68580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FF0053"/>
                </a:solidFill>
                <a:latin typeface="Montserrat"/>
              </a:rPr>
              <a:t>94,7 %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10128" y="2176272"/>
            <a:ext cx="2560320" cy="54864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C1D22"/>
                </a:solidFill>
                <a:latin typeface="Montserrat"/>
              </a:rPr>
              <a:t>ошибка не больше одного грейда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63056" y="1481328"/>
            <a:ext cx="2697480" cy="68580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FF0053"/>
                </a:solidFill>
                <a:latin typeface="Montserrat"/>
              </a:rPr>
              <a:t>5,9 %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63056" y="2176272"/>
            <a:ext cx="2560320" cy="54864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C1D22"/>
                </a:solidFill>
                <a:latin typeface="Montserrat"/>
              </a:rPr>
              <a:t>грейд завышен; занижен у 28,5 %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5984" y="1481328"/>
            <a:ext cx="2697480" cy="68580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FF0053"/>
                </a:solidFill>
                <a:latin typeface="Montserrat"/>
              </a:rPr>
              <a:t>0,83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15984" y="2176272"/>
            <a:ext cx="2560320" cy="54864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C1D22"/>
                </a:solidFill>
                <a:latin typeface="Montserrat"/>
              </a:rPr>
              <a:t>корреляция оценок в двух независимых тестах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2926080"/>
            <a:ext cx="5669280" cy="32004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20977"/>
                </a:solidFill>
                <a:latin typeface="Montserrat"/>
              </a:rPr>
              <a:t>Тест Middle: доля верных ответов по настоящему грейду, %</a:t>
            </a:r>
          </a:p>
        </p:txBody>
      </p:sp>
      <p:graphicFrame>
        <p:nvGraphicFramePr>
          <p:cNvPr id="34" name="Chart 33"/>
          <p:cNvGraphicFramePr>
            <a:graphicFrameLocks noGrp="1"/>
          </p:cNvGraphicFramePr>
          <p:nvPr/>
        </p:nvGraphicFramePr>
        <p:xfrm>
          <a:off x="365760" y="3246120"/>
          <a:ext cx="5760720" cy="3017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5" name="Rounded Rectangle 34"/>
          <p:cNvSpPr/>
          <p:nvPr/>
        </p:nvSpPr>
        <p:spPr>
          <a:xfrm>
            <a:off x="6400800" y="2926080"/>
            <a:ext cx="5440680" cy="15727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583680" y="3035808"/>
            <a:ext cx="5074920" cy="137160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520977"/>
                </a:solidFill>
                <a:latin typeface="Montserrat"/>
              </a:rPr>
              <a:t>Утечка заданий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1C1D22"/>
                </a:solidFill>
                <a:latin typeface="Montserrat"/>
              </a:rPr>
              <a:t>Слабый кандидат с ответами 20 утёкших тестов сдаёт Middle в 24,3 % случаев, без них — в 15,3 %. При едином тесте для всех было бы 100 %.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0" y="4663440"/>
            <a:ext cx="5440680" cy="15727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583680" y="4773168"/>
            <a:ext cx="5074920" cy="137160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520977"/>
                </a:solidFill>
                <a:latin typeface="Montserrat"/>
              </a:rPr>
              <a:t>Случайные ответы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1C1D22"/>
                </a:solidFill>
                <a:latin typeface="Montserrat"/>
              </a:rPr>
              <a:t>Тест на стажёра наугад проходят 1,3 % попыток; до доработки было 52 %. На Junior и выше — 0–0,1 %.</a:t>
            </a:r>
          </a:p>
        </p:txBody>
      </p:sp>
    </p:spTree>
    <p:extLst>
      <p:ext uri="{BB962C8B-B14F-4D97-AF65-F5344CB8AC3E}">
        <p14:creationId xmlns:p14="http://schemas.microsoft.com/office/powerpoint/2010/main" val="17509842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89C504C-C673-685A-ED35-3E688A842675}"/>
              </a:ext>
            </a:extLst>
          </p:cNvPr>
          <p:cNvSpPr/>
          <p:nvPr/>
        </p:nvSpPr>
        <p:spPr>
          <a:xfrm>
            <a:off x="346075" y="324562"/>
            <a:ext cx="37673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2D779828-50AA-424E-9D75-E4AA39DF20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12</a:t>
            </a:fld>
            <a:endParaRPr lang="ru-RU" dirty="0">
              <a:solidFill>
                <a:schemeClr val="accent5"/>
              </a:solidFill>
            </a:endParaRPr>
          </a:p>
        </p:txBody>
      </p:sp>
      <p:graphicFrame>
        <p:nvGraphicFramePr>
          <p:cNvPr id="12" name="Диаграмма 11">
            <a:extLst>
              <a:ext uri="{FF2B5EF4-FFF2-40B4-BE49-F238E27FC236}">
                <a16:creationId xmlns:a16="http://schemas.microsoft.com/office/drawing/2014/main" id="{23BDA4A7-21AE-4EEC-8367-DB38D1BA31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56028303"/>
              </p:ext>
            </p:extLst>
          </p:nvPr>
        </p:nvGraphicFramePr>
        <p:xfrm>
          <a:off x="108488" y="1661465"/>
          <a:ext cx="8896028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9CDF69C9-489B-D478-1908-E63FA3502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МЕХАНИКА ПОДБОРА</a:t>
            </a:r>
            <a:endParaRPr lang="ru-RU" dirty="0"/>
          </a:p>
        </p:txBody>
      </p:sp>
      <p:sp>
        <p:nvSpPr>
          <p:cNvPr id="16" name="TextBox 15"/>
          <p:cNvSpPr txBox="1"/>
          <p:nvPr/>
        </p:nvSpPr>
        <p:spPr>
          <a:xfrm>
            <a:off x="108488" y="1442009"/>
            <a:ext cx="5760720" cy="36576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dirty="0" err="1">
                <a:solidFill>
                  <a:srgbClr val="520977"/>
                </a:solidFill>
                <a:latin typeface="Montserrat"/>
              </a:rPr>
              <a:t>Из</a:t>
            </a:r>
            <a:r>
              <a:rPr sz="1300" b="1" dirty="0">
                <a:solidFill>
                  <a:srgbClr val="520977"/>
                </a:solidFill>
                <a:latin typeface="Montserrat"/>
              </a:rPr>
              <a:t> </a:t>
            </a:r>
            <a:r>
              <a:rPr sz="1300" b="1" dirty="0" err="1">
                <a:solidFill>
                  <a:srgbClr val="520977"/>
                </a:solidFill>
                <a:latin typeface="Montserrat"/>
              </a:rPr>
              <a:t>чего</a:t>
            </a:r>
            <a:r>
              <a:rPr sz="1300" b="1" dirty="0">
                <a:solidFill>
                  <a:srgbClr val="520977"/>
                </a:solidFill>
                <a:latin typeface="Montserrat"/>
              </a:rPr>
              <a:t> </a:t>
            </a:r>
            <a:r>
              <a:rPr sz="1300" b="1" dirty="0" err="1">
                <a:solidFill>
                  <a:srgbClr val="520977"/>
                </a:solidFill>
                <a:latin typeface="Montserrat"/>
              </a:rPr>
              <a:t>складывается</a:t>
            </a:r>
            <a:r>
              <a:rPr sz="1300" b="1" dirty="0">
                <a:solidFill>
                  <a:srgbClr val="520977"/>
                </a:solidFill>
                <a:latin typeface="Montserrat"/>
              </a:rPr>
              <a:t> </a:t>
            </a:r>
            <a:r>
              <a:rPr sz="1300" b="1" dirty="0" err="1">
                <a:solidFill>
                  <a:srgbClr val="520977"/>
                </a:solidFill>
                <a:latin typeface="Montserrat"/>
              </a:rPr>
              <a:t>оценка</a:t>
            </a:r>
            <a:r>
              <a:rPr sz="1300" b="1" dirty="0">
                <a:solidFill>
                  <a:srgbClr val="520977"/>
                </a:solidFill>
                <a:latin typeface="Montserrat"/>
              </a:rPr>
              <a:t> </a:t>
            </a:r>
            <a:r>
              <a:rPr sz="1300" b="1" dirty="0" err="1">
                <a:solidFill>
                  <a:srgbClr val="520977"/>
                </a:solidFill>
                <a:latin typeface="Montserrat"/>
              </a:rPr>
              <a:t>соответствия</a:t>
            </a:r>
            <a:r>
              <a:rPr sz="1300" b="1" dirty="0">
                <a:solidFill>
                  <a:srgbClr val="520977"/>
                </a:solidFill>
                <a:latin typeface="Montserrat"/>
              </a:rPr>
              <a:t>, </a:t>
            </a:r>
            <a:r>
              <a:rPr sz="1300" b="1" dirty="0" err="1">
                <a:solidFill>
                  <a:srgbClr val="520977"/>
                </a:solidFill>
                <a:latin typeface="Montserrat"/>
              </a:rPr>
              <a:t>баллов</a:t>
            </a:r>
            <a:r>
              <a:rPr sz="1300" b="1" dirty="0">
                <a:solidFill>
                  <a:srgbClr val="520977"/>
                </a:solidFill>
                <a:latin typeface="Montserrat"/>
              </a:rPr>
              <a:t> </a:t>
            </a:r>
            <a:r>
              <a:rPr sz="1300" b="1" dirty="0" err="1">
                <a:solidFill>
                  <a:srgbClr val="520977"/>
                </a:solidFill>
                <a:latin typeface="Montserrat"/>
              </a:rPr>
              <a:t>из</a:t>
            </a:r>
            <a:r>
              <a:rPr sz="1300" b="1" dirty="0">
                <a:solidFill>
                  <a:srgbClr val="520977"/>
                </a:solidFill>
                <a:latin typeface="Montserrat"/>
              </a:rPr>
              <a:t> 100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4434" y="1442009"/>
            <a:ext cx="3738191" cy="901785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dirty="0" err="1">
                <a:solidFill>
                  <a:srgbClr val="FF0053"/>
                </a:solidFill>
                <a:latin typeface="Montserrat"/>
              </a:rPr>
              <a:t>Основа</a:t>
            </a:r>
            <a:r>
              <a:rPr sz="1500" b="1" dirty="0">
                <a:solidFill>
                  <a:srgbClr val="FF0053"/>
                </a:solidFill>
                <a:latin typeface="Montserrat"/>
              </a:rPr>
              <a:t> — </a:t>
            </a:r>
            <a:r>
              <a:rPr sz="1500" b="1" dirty="0" err="1">
                <a:solidFill>
                  <a:srgbClr val="FF0053"/>
                </a:solidFill>
                <a:latin typeface="Montserrat"/>
              </a:rPr>
              <a:t>категория</a:t>
            </a:r>
            <a:r>
              <a:rPr sz="1500" b="1" dirty="0">
                <a:solidFill>
                  <a:srgbClr val="FF0053"/>
                </a:solidFill>
                <a:latin typeface="Montserrat"/>
              </a:rPr>
              <a:t> </a:t>
            </a:r>
            <a:r>
              <a:rPr sz="1500" b="1" dirty="0" err="1">
                <a:solidFill>
                  <a:srgbClr val="FF0053"/>
                </a:solidFill>
                <a:latin typeface="Montserrat"/>
              </a:rPr>
              <a:t>из</a:t>
            </a:r>
            <a:r>
              <a:rPr sz="1500" b="1" dirty="0">
                <a:solidFill>
                  <a:srgbClr val="FF0053"/>
                </a:solidFill>
                <a:latin typeface="Montserrat"/>
              </a:rPr>
              <a:t> </a:t>
            </a:r>
            <a:r>
              <a:rPr sz="1500" b="1" dirty="0" err="1">
                <a:solidFill>
                  <a:srgbClr val="FF0053"/>
                </a:solidFill>
                <a:latin typeface="Montserrat"/>
              </a:rPr>
              <a:t>теста</a:t>
            </a:r>
            <a:endParaRPr sz="1500" b="1" dirty="0">
              <a:solidFill>
                <a:srgbClr val="FF0053"/>
              </a:solidFill>
              <a:latin typeface="Montserrat"/>
            </a:endParaRPr>
          </a:p>
          <a:p>
            <a:pPr algn="l">
              <a:spcAft>
                <a:spcPts val="0"/>
              </a:spcAft>
            </a:pPr>
            <a:r>
              <a:rPr sz="1250" b="0" dirty="0" err="1">
                <a:solidFill>
                  <a:srgbClr val="1C1D22"/>
                </a:solidFill>
                <a:latin typeface="Montserrat"/>
              </a:rPr>
              <a:t>Специализация</a:t>
            </a:r>
            <a:r>
              <a:rPr sz="1250" b="0" dirty="0">
                <a:solidFill>
                  <a:srgbClr val="1C1D22"/>
                </a:solidFill>
                <a:latin typeface="Montserrat"/>
              </a:rPr>
              <a:t> </a:t>
            </a:r>
            <a:r>
              <a:rPr sz="1250" b="0" dirty="0" err="1">
                <a:solidFill>
                  <a:srgbClr val="1C1D22"/>
                </a:solidFill>
                <a:latin typeface="Montserrat"/>
              </a:rPr>
              <a:t>и</a:t>
            </a:r>
            <a:r>
              <a:rPr sz="1250" b="0" dirty="0">
                <a:solidFill>
                  <a:srgbClr val="1C1D22"/>
                </a:solidFill>
                <a:latin typeface="Montserrat"/>
              </a:rPr>
              <a:t> </a:t>
            </a:r>
            <a:r>
              <a:rPr sz="1250" b="0" dirty="0" err="1">
                <a:solidFill>
                  <a:srgbClr val="1C1D22"/>
                </a:solidFill>
                <a:latin typeface="Montserrat"/>
              </a:rPr>
              <a:t>подтверждённый</a:t>
            </a:r>
            <a:r>
              <a:rPr sz="1250" b="0" dirty="0">
                <a:solidFill>
                  <a:srgbClr val="1C1D22"/>
                </a:solidFill>
                <a:latin typeface="Montserrat"/>
              </a:rPr>
              <a:t> </a:t>
            </a:r>
            <a:r>
              <a:rPr sz="1250" b="0" dirty="0" err="1">
                <a:solidFill>
                  <a:srgbClr val="1C1D22"/>
                </a:solidFill>
                <a:latin typeface="Montserrat"/>
              </a:rPr>
              <a:t>грейд</a:t>
            </a:r>
            <a:r>
              <a:rPr sz="1250" b="0" dirty="0">
                <a:solidFill>
                  <a:srgbClr val="1C1D22"/>
                </a:solidFill>
                <a:latin typeface="Montserrat"/>
              </a:rPr>
              <a:t> </a:t>
            </a:r>
            <a:r>
              <a:rPr sz="1250" b="0" dirty="0" err="1">
                <a:solidFill>
                  <a:srgbClr val="1C1D22"/>
                </a:solidFill>
                <a:latin typeface="Montserrat"/>
              </a:rPr>
              <a:t>дают</a:t>
            </a:r>
            <a:r>
              <a:rPr sz="1250" b="0" dirty="0">
                <a:solidFill>
                  <a:srgbClr val="1C1D22"/>
                </a:solidFill>
                <a:latin typeface="Montserrat"/>
              </a:rPr>
              <a:t> </a:t>
            </a:r>
            <a:r>
              <a:rPr sz="1250" b="0" dirty="0" err="1">
                <a:solidFill>
                  <a:srgbClr val="1C1D22"/>
                </a:solidFill>
                <a:latin typeface="Montserrat"/>
              </a:rPr>
              <a:t>до</a:t>
            </a:r>
            <a:r>
              <a:rPr sz="1250" b="0" dirty="0">
                <a:solidFill>
                  <a:srgbClr val="1C1D22"/>
                </a:solidFill>
                <a:latin typeface="Montserrat"/>
              </a:rPr>
              <a:t> 50 </a:t>
            </a:r>
            <a:r>
              <a:rPr sz="1250" b="0" dirty="0" err="1">
                <a:solidFill>
                  <a:srgbClr val="1C1D22"/>
                </a:solidFill>
                <a:latin typeface="Montserrat"/>
              </a:rPr>
              <a:t>баллов</a:t>
            </a:r>
            <a:r>
              <a:rPr sz="1250" b="0" dirty="0">
                <a:solidFill>
                  <a:srgbClr val="1C1D22"/>
                </a:solidFill>
                <a:latin typeface="Montserrat"/>
              </a:rPr>
              <a:t>. </a:t>
            </a:r>
            <a:r>
              <a:rPr sz="1250" b="0" dirty="0" err="1">
                <a:solidFill>
                  <a:srgbClr val="1C1D22"/>
                </a:solidFill>
                <a:latin typeface="Montserrat"/>
              </a:rPr>
              <a:t>Самоописание</a:t>
            </a:r>
            <a:r>
              <a:rPr sz="1250" b="0" dirty="0">
                <a:solidFill>
                  <a:srgbClr val="1C1D22"/>
                </a:solidFill>
                <a:latin typeface="Montserrat"/>
              </a:rPr>
              <a:t> </a:t>
            </a:r>
            <a:r>
              <a:rPr sz="1250" b="0" dirty="0" err="1">
                <a:solidFill>
                  <a:srgbClr val="1C1D22"/>
                </a:solidFill>
                <a:latin typeface="Montserrat"/>
              </a:rPr>
              <a:t>в</a:t>
            </a:r>
            <a:r>
              <a:rPr sz="1250" b="0" dirty="0">
                <a:solidFill>
                  <a:srgbClr val="1C1D22"/>
                </a:solidFill>
                <a:latin typeface="Montserrat"/>
              </a:rPr>
              <a:t> </a:t>
            </a:r>
            <a:r>
              <a:rPr sz="1250" b="0" dirty="0" err="1">
                <a:solidFill>
                  <a:srgbClr val="1C1D22"/>
                </a:solidFill>
                <a:latin typeface="Montserrat"/>
              </a:rPr>
              <a:t>резюме</a:t>
            </a:r>
            <a:r>
              <a:rPr sz="1250" b="0" dirty="0">
                <a:solidFill>
                  <a:srgbClr val="1C1D22"/>
                </a:solidFill>
                <a:latin typeface="Montserrat"/>
              </a:rPr>
              <a:t> </a:t>
            </a:r>
            <a:r>
              <a:rPr sz="1250" b="0" dirty="0" err="1">
                <a:solidFill>
                  <a:srgbClr val="1C1D22"/>
                </a:solidFill>
                <a:latin typeface="Montserrat"/>
              </a:rPr>
              <a:t>на</a:t>
            </a:r>
            <a:r>
              <a:rPr sz="1250" b="0" dirty="0">
                <a:solidFill>
                  <a:srgbClr val="1C1D22"/>
                </a:solidFill>
                <a:latin typeface="Montserrat"/>
              </a:rPr>
              <a:t> </a:t>
            </a:r>
            <a:r>
              <a:rPr sz="1250" b="0" dirty="0" err="1">
                <a:solidFill>
                  <a:srgbClr val="1C1D22"/>
                </a:solidFill>
                <a:latin typeface="Montserrat"/>
              </a:rPr>
              <a:t>категорию</a:t>
            </a:r>
            <a:r>
              <a:rPr sz="1250" b="0" dirty="0">
                <a:solidFill>
                  <a:srgbClr val="1C1D22"/>
                </a:solidFill>
                <a:latin typeface="Montserrat"/>
              </a:rPr>
              <a:t> </a:t>
            </a:r>
            <a:r>
              <a:rPr sz="1250" b="0" dirty="0" err="1">
                <a:solidFill>
                  <a:srgbClr val="1C1D22"/>
                </a:solidFill>
                <a:latin typeface="Montserrat"/>
              </a:rPr>
              <a:t>не</a:t>
            </a:r>
            <a:r>
              <a:rPr sz="1250" b="0" dirty="0">
                <a:solidFill>
                  <a:srgbClr val="1C1D22"/>
                </a:solidFill>
                <a:latin typeface="Montserrat"/>
              </a:rPr>
              <a:t> </a:t>
            </a:r>
            <a:r>
              <a:rPr sz="1250" b="0" dirty="0" err="1">
                <a:solidFill>
                  <a:srgbClr val="1C1D22"/>
                </a:solidFill>
                <a:latin typeface="Montserrat"/>
              </a:rPr>
              <a:t>влияет</a:t>
            </a:r>
            <a:r>
              <a:rPr sz="1250" b="0" dirty="0">
                <a:solidFill>
                  <a:srgbClr val="1C1D22"/>
                </a:solidFill>
                <a:latin typeface="Montserrat"/>
              </a:rPr>
              <a:t>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4434" y="2694737"/>
            <a:ext cx="3738192" cy="901785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dirty="0" err="1">
                <a:solidFill>
                  <a:srgbClr val="520977"/>
                </a:solidFill>
                <a:latin typeface="Montserrat"/>
              </a:rPr>
              <a:t>Подтверждённые</a:t>
            </a:r>
            <a:r>
              <a:rPr sz="1500" b="1" dirty="0">
                <a:solidFill>
                  <a:srgbClr val="520977"/>
                </a:solidFill>
                <a:latin typeface="Montserrat"/>
              </a:rPr>
              <a:t> </a:t>
            </a:r>
            <a:r>
              <a:rPr sz="1500" b="1" dirty="0" err="1">
                <a:solidFill>
                  <a:srgbClr val="520977"/>
                </a:solidFill>
                <a:latin typeface="Montserrat"/>
              </a:rPr>
              <a:t>выше</a:t>
            </a:r>
            <a:endParaRPr sz="1500" b="1" dirty="0">
              <a:solidFill>
                <a:srgbClr val="520977"/>
              </a:solidFill>
              <a:latin typeface="Montserrat"/>
            </a:endParaRPr>
          </a:p>
          <a:p>
            <a:pPr algn="l">
              <a:spcAft>
                <a:spcPts val="0"/>
              </a:spcAft>
            </a:pPr>
            <a:r>
              <a:rPr sz="1250" b="0" dirty="0" err="1">
                <a:solidFill>
                  <a:srgbClr val="1C1D22"/>
                </a:solidFill>
                <a:latin typeface="Montserrat"/>
              </a:rPr>
              <a:t>Кандидаты</a:t>
            </a:r>
            <a:r>
              <a:rPr sz="1250" b="0" dirty="0">
                <a:solidFill>
                  <a:srgbClr val="1C1D22"/>
                </a:solidFill>
                <a:latin typeface="Montserrat"/>
              </a:rPr>
              <a:t> </a:t>
            </a:r>
            <a:r>
              <a:rPr sz="1250" b="0" dirty="0" err="1">
                <a:solidFill>
                  <a:srgbClr val="1C1D22"/>
                </a:solidFill>
                <a:latin typeface="Montserrat"/>
              </a:rPr>
              <a:t>без</a:t>
            </a:r>
            <a:r>
              <a:rPr sz="1250" b="0" dirty="0">
                <a:solidFill>
                  <a:srgbClr val="1C1D22"/>
                </a:solidFill>
                <a:latin typeface="Montserrat"/>
              </a:rPr>
              <a:t> </a:t>
            </a:r>
            <a:r>
              <a:rPr sz="1250" b="0" dirty="0" err="1">
                <a:solidFill>
                  <a:srgbClr val="1C1D22"/>
                </a:solidFill>
                <a:latin typeface="Montserrat"/>
              </a:rPr>
              <a:t>подтверждённого</a:t>
            </a:r>
            <a:r>
              <a:rPr sz="1250" b="0" dirty="0">
                <a:solidFill>
                  <a:srgbClr val="1C1D22"/>
                </a:solidFill>
                <a:latin typeface="Montserrat"/>
              </a:rPr>
              <a:t> </a:t>
            </a:r>
            <a:r>
              <a:rPr sz="1250" b="0" dirty="0" err="1">
                <a:solidFill>
                  <a:srgbClr val="1C1D22"/>
                </a:solidFill>
                <a:latin typeface="Montserrat"/>
              </a:rPr>
              <a:t>грейда</a:t>
            </a:r>
            <a:r>
              <a:rPr sz="1250" b="0" dirty="0">
                <a:solidFill>
                  <a:srgbClr val="1C1D22"/>
                </a:solidFill>
                <a:latin typeface="Montserrat"/>
              </a:rPr>
              <a:t> </a:t>
            </a:r>
            <a:r>
              <a:rPr sz="1250" b="0" dirty="0" err="1">
                <a:solidFill>
                  <a:srgbClr val="1C1D22"/>
                </a:solidFill>
                <a:latin typeface="Montserrat"/>
              </a:rPr>
              <a:t>видны</a:t>
            </a:r>
            <a:r>
              <a:rPr sz="1250" b="0" dirty="0">
                <a:solidFill>
                  <a:srgbClr val="1C1D22"/>
                </a:solidFill>
                <a:latin typeface="Montserrat"/>
              </a:rPr>
              <a:t>, </a:t>
            </a:r>
            <a:r>
              <a:rPr sz="1250" b="0" dirty="0" err="1">
                <a:solidFill>
                  <a:srgbClr val="1C1D22"/>
                </a:solidFill>
                <a:latin typeface="Montserrat"/>
              </a:rPr>
              <a:t>но</a:t>
            </a:r>
            <a:r>
              <a:rPr sz="1250" b="0" dirty="0">
                <a:solidFill>
                  <a:srgbClr val="1C1D22"/>
                </a:solidFill>
                <a:latin typeface="Montserrat"/>
              </a:rPr>
              <a:t> </a:t>
            </a:r>
            <a:r>
              <a:rPr sz="1250" b="0" dirty="0" err="1">
                <a:solidFill>
                  <a:srgbClr val="1C1D22"/>
                </a:solidFill>
                <a:latin typeface="Montserrat"/>
              </a:rPr>
              <a:t>всегда</a:t>
            </a:r>
            <a:r>
              <a:rPr sz="1250" b="0" dirty="0">
                <a:solidFill>
                  <a:srgbClr val="1C1D22"/>
                </a:solidFill>
                <a:latin typeface="Montserrat"/>
              </a:rPr>
              <a:t> </a:t>
            </a:r>
            <a:r>
              <a:rPr sz="1250" b="0" dirty="0" err="1">
                <a:solidFill>
                  <a:srgbClr val="1C1D22"/>
                </a:solidFill>
                <a:latin typeface="Montserrat"/>
              </a:rPr>
              <a:t>стоят</a:t>
            </a:r>
            <a:r>
              <a:rPr sz="1250" b="0" dirty="0">
                <a:solidFill>
                  <a:srgbClr val="1C1D22"/>
                </a:solidFill>
                <a:latin typeface="Montserrat"/>
              </a:rPr>
              <a:t> </a:t>
            </a:r>
            <a:r>
              <a:rPr sz="1250" b="0" dirty="0" err="1">
                <a:solidFill>
                  <a:srgbClr val="1C1D22"/>
                </a:solidFill>
                <a:latin typeface="Montserrat"/>
              </a:rPr>
              <a:t>ниже</a:t>
            </a:r>
            <a:r>
              <a:rPr sz="1250" b="0" dirty="0">
                <a:solidFill>
                  <a:srgbClr val="1C1D22"/>
                </a:solidFill>
                <a:latin typeface="Montserrat"/>
              </a:rPr>
              <a:t> </a:t>
            </a:r>
            <a:r>
              <a:rPr sz="1250" b="0" dirty="0" err="1">
                <a:solidFill>
                  <a:srgbClr val="1C1D22"/>
                </a:solidFill>
                <a:latin typeface="Montserrat"/>
              </a:rPr>
              <a:t>подтверждённых</a:t>
            </a:r>
            <a:r>
              <a:rPr sz="1250" b="0" dirty="0">
                <a:solidFill>
                  <a:srgbClr val="1C1D22"/>
                </a:solidFill>
                <a:latin typeface="Montserrat"/>
              </a:rPr>
              <a:t>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4434" y="3947465"/>
            <a:ext cx="3738192" cy="709425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dirty="0">
                <a:solidFill>
                  <a:srgbClr val="8A83D1"/>
                </a:solidFill>
                <a:latin typeface="Montserrat"/>
              </a:rPr>
              <a:t>ФСП </a:t>
            </a:r>
            <a:r>
              <a:rPr sz="1500" b="1" dirty="0" err="1">
                <a:solidFill>
                  <a:srgbClr val="8A83D1"/>
                </a:solidFill>
                <a:latin typeface="Montserrat"/>
              </a:rPr>
              <a:t>усиливает</a:t>
            </a:r>
            <a:r>
              <a:rPr sz="1500" b="1" dirty="0">
                <a:solidFill>
                  <a:srgbClr val="8A83D1"/>
                </a:solidFill>
                <a:latin typeface="Montserrat"/>
              </a:rPr>
              <a:t> </a:t>
            </a:r>
            <a:r>
              <a:rPr sz="1500" b="1" dirty="0" err="1">
                <a:solidFill>
                  <a:srgbClr val="8A83D1"/>
                </a:solidFill>
                <a:latin typeface="Montserrat"/>
              </a:rPr>
              <a:t>позицию</a:t>
            </a:r>
            <a:endParaRPr sz="1500" b="1" dirty="0">
              <a:solidFill>
                <a:srgbClr val="8A83D1"/>
              </a:solidFill>
              <a:latin typeface="Montserrat"/>
            </a:endParaRPr>
          </a:p>
          <a:p>
            <a:pPr algn="l">
              <a:spcAft>
                <a:spcPts val="0"/>
              </a:spcAft>
            </a:pPr>
            <a:r>
              <a:rPr sz="1250" b="0" dirty="0" err="1">
                <a:solidFill>
                  <a:srgbClr val="1C1D22"/>
                </a:solidFill>
                <a:latin typeface="Montserrat"/>
              </a:rPr>
              <a:t>Достижения</a:t>
            </a:r>
            <a:r>
              <a:rPr sz="1250" b="0" dirty="0">
                <a:solidFill>
                  <a:srgbClr val="1C1D22"/>
                </a:solidFill>
                <a:latin typeface="Montserrat"/>
              </a:rPr>
              <a:t> ФСП </a:t>
            </a:r>
            <a:r>
              <a:rPr sz="1250" b="0" dirty="0" err="1">
                <a:solidFill>
                  <a:srgbClr val="1C1D22"/>
                </a:solidFill>
                <a:latin typeface="Montserrat"/>
              </a:rPr>
              <a:t>добавляют</a:t>
            </a:r>
            <a:r>
              <a:rPr sz="1250" b="0" dirty="0">
                <a:solidFill>
                  <a:srgbClr val="1C1D22"/>
                </a:solidFill>
                <a:latin typeface="Montserrat"/>
              </a:rPr>
              <a:t> </a:t>
            </a:r>
            <a:r>
              <a:rPr sz="1250" b="0" dirty="0" err="1">
                <a:solidFill>
                  <a:srgbClr val="1C1D22"/>
                </a:solidFill>
                <a:latin typeface="Montserrat"/>
              </a:rPr>
              <a:t>баллы</a:t>
            </a:r>
            <a:r>
              <a:rPr sz="1250" b="0" dirty="0">
                <a:solidFill>
                  <a:srgbClr val="1C1D22"/>
                </a:solidFill>
                <a:latin typeface="Montserrat"/>
              </a:rPr>
              <a:t> </a:t>
            </a:r>
            <a:r>
              <a:rPr sz="1250" b="0" dirty="0" err="1">
                <a:solidFill>
                  <a:srgbClr val="1C1D22"/>
                </a:solidFill>
                <a:latin typeface="Montserrat"/>
              </a:rPr>
              <a:t>внутри</a:t>
            </a:r>
            <a:r>
              <a:rPr sz="1250" b="0" dirty="0">
                <a:solidFill>
                  <a:srgbClr val="1C1D22"/>
                </a:solidFill>
                <a:latin typeface="Montserrat"/>
              </a:rPr>
              <a:t> </a:t>
            </a:r>
            <a:r>
              <a:rPr sz="1250" b="0" dirty="0" err="1">
                <a:solidFill>
                  <a:srgbClr val="1C1D22"/>
                </a:solidFill>
                <a:latin typeface="Montserrat"/>
              </a:rPr>
              <a:t>категории</a:t>
            </a:r>
            <a:r>
              <a:rPr sz="1250" b="0" dirty="0">
                <a:solidFill>
                  <a:srgbClr val="1C1D22"/>
                </a:solidFill>
                <a:latin typeface="Montserrat"/>
              </a:rPr>
              <a:t>; </a:t>
            </a:r>
            <a:r>
              <a:rPr sz="1250" b="0" dirty="0" err="1">
                <a:solidFill>
                  <a:srgbClr val="1C1D22"/>
                </a:solidFill>
                <a:latin typeface="Montserrat"/>
              </a:rPr>
              <a:t>грейд</a:t>
            </a:r>
            <a:r>
              <a:rPr sz="1250" b="0" dirty="0">
                <a:solidFill>
                  <a:srgbClr val="1C1D22"/>
                </a:solidFill>
                <a:latin typeface="Montserrat"/>
              </a:rPr>
              <a:t> </a:t>
            </a:r>
            <a:r>
              <a:rPr sz="1250" b="0" dirty="0" err="1">
                <a:solidFill>
                  <a:srgbClr val="1C1D22"/>
                </a:solidFill>
                <a:latin typeface="Montserrat"/>
              </a:rPr>
              <a:t>они</a:t>
            </a:r>
            <a:r>
              <a:rPr sz="1250" b="0" dirty="0">
                <a:solidFill>
                  <a:srgbClr val="1C1D22"/>
                </a:solidFill>
                <a:latin typeface="Montserrat"/>
              </a:rPr>
              <a:t> </a:t>
            </a:r>
            <a:r>
              <a:rPr sz="1250" b="0" dirty="0" err="1">
                <a:solidFill>
                  <a:srgbClr val="1C1D22"/>
                </a:solidFill>
                <a:latin typeface="Montserrat"/>
              </a:rPr>
              <a:t>не</a:t>
            </a:r>
            <a:r>
              <a:rPr sz="1250" b="0" dirty="0">
                <a:solidFill>
                  <a:srgbClr val="1C1D22"/>
                </a:solidFill>
                <a:latin typeface="Montserrat"/>
              </a:rPr>
              <a:t> </a:t>
            </a:r>
            <a:r>
              <a:rPr sz="1250" b="0" dirty="0" err="1">
                <a:solidFill>
                  <a:srgbClr val="1C1D22"/>
                </a:solidFill>
                <a:latin typeface="Montserrat"/>
              </a:rPr>
              <a:t>меняют</a:t>
            </a:r>
            <a:r>
              <a:rPr sz="1250" b="0" dirty="0">
                <a:solidFill>
                  <a:srgbClr val="1C1D22"/>
                </a:solidFill>
                <a:latin typeface="Montserrat"/>
              </a:rPr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34434" y="5148846"/>
            <a:ext cx="3738192" cy="709425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dirty="0" err="1">
                <a:solidFill>
                  <a:srgbClr val="FF0053"/>
                </a:solidFill>
                <a:latin typeface="Montserrat"/>
              </a:rPr>
              <a:t>Объяснимость</a:t>
            </a:r>
            <a:endParaRPr sz="1500" b="1" dirty="0">
              <a:solidFill>
                <a:srgbClr val="FF0053"/>
              </a:solidFill>
              <a:latin typeface="Montserrat"/>
            </a:endParaRPr>
          </a:p>
          <a:p>
            <a:pPr algn="l">
              <a:spcAft>
                <a:spcPts val="0"/>
              </a:spcAft>
            </a:pPr>
            <a:r>
              <a:rPr sz="1250" b="0" dirty="0" err="1">
                <a:solidFill>
                  <a:srgbClr val="1C1D22"/>
                </a:solidFill>
                <a:latin typeface="Montserrat"/>
              </a:rPr>
              <a:t>Кнопка</a:t>
            </a:r>
            <a:r>
              <a:rPr sz="1250" b="0" dirty="0">
                <a:solidFill>
                  <a:srgbClr val="1C1D22"/>
                </a:solidFill>
                <a:latin typeface="Montserrat"/>
              </a:rPr>
              <a:t> «</a:t>
            </a:r>
            <a:r>
              <a:rPr sz="1250" b="0" dirty="0" err="1">
                <a:solidFill>
                  <a:srgbClr val="1C1D22"/>
                </a:solidFill>
                <a:latin typeface="Montserrat"/>
              </a:rPr>
              <a:t>Почему</a:t>
            </a:r>
            <a:r>
              <a:rPr sz="1250" b="0" dirty="0">
                <a:solidFill>
                  <a:srgbClr val="1C1D22"/>
                </a:solidFill>
                <a:latin typeface="Montserrat"/>
              </a:rPr>
              <a:t>» </a:t>
            </a:r>
            <a:r>
              <a:rPr sz="1250" b="0" dirty="0" err="1">
                <a:solidFill>
                  <a:srgbClr val="1C1D22"/>
                </a:solidFill>
                <a:latin typeface="Montserrat"/>
              </a:rPr>
              <a:t>показывает</a:t>
            </a:r>
            <a:r>
              <a:rPr sz="1250" b="0" dirty="0">
                <a:solidFill>
                  <a:srgbClr val="1C1D22"/>
                </a:solidFill>
                <a:latin typeface="Montserrat"/>
              </a:rPr>
              <a:t> </a:t>
            </a:r>
            <a:r>
              <a:rPr sz="1250" b="0" dirty="0" err="1">
                <a:solidFill>
                  <a:srgbClr val="1C1D22"/>
                </a:solidFill>
                <a:latin typeface="Montserrat"/>
              </a:rPr>
              <a:t>вклад</a:t>
            </a:r>
            <a:r>
              <a:rPr sz="1250" b="0" dirty="0">
                <a:solidFill>
                  <a:srgbClr val="1C1D22"/>
                </a:solidFill>
                <a:latin typeface="Montserrat"/>
              </a:rPr>
              <a:t> </a:t>
            </a:r>
            <a:r>
              <a:rPr sz="1250" b="0" dirty="0" err="1">
                <a:solidFill>
                  <a:srgbClr val="1C1D22"/>
                </a:solidFill>
                <a:latin typeface="Montserrat"/>
              </a:rPr>
              <a:t>каждого</a:t>
            </a:r>
            <a:r>
              <a:rPr sz="1250" b="0" dirty="0">
                <a:solidFill>
                  <a:srgbClr val="1C1D22"/>
                </a:solidFill>
                <a:latin typeface="Montserrat"/>
              </a:rPr>
              <a:t> </a:t>
            </a:r>
            <a:r>
              <a:rPr sz="1250" b="0" dirty="0" err="1">
                <a:solidFill>
                  <a:srgbClr val="1C1D22"/>
                </a:solidFill>
                <a:latin typeface="Montserrat"/>
              </a:rPr>
              <a:t>фактора</a:t>
            </a:r>
            <a:r>
              <a:rPr sz="1250" b="0" dirty="0">
                <a:solidFill>
                  <a:srgbClr val="1C1D22"/>
                </a:solidFill>
                <a:latin typeface="Montserrat"/>
              </a:rPr>
              <a:t> </a:t>
            </a:r>
            <a:r>
              <a:rPr sz="1250" b="0" dirty="0" err="1">
                <a:solidFill>
                  <a:srgbClr val="1C1D22"/>
                </a:solidFill>
                <a:latin typeface="Montserrat"/>
              </a:rPr>
              <a:t>для</a:t>
            </a:r>
            <a:r>
              <a:rPr sz="1250" b="0" dirty="0">
                <a:solidFill>
                  <a:srgbClr val="1C1D22"/>
                </a:solidFill>
                <a:latin typeface="Montserrat"/>
              </a:rPr>
              <a:t> </a:t>
            </a:r>
            <a:r>
              <a:rPr sz="1250" b="0" dirty="0" err="1">
                <a:solidFill>
                  <a:srgbClr val="1C1D22"/>
                </a:solidFill>
                <a:latin typeface="Montserrat"/>
              </a:rPr>
              <a:t>каждого</a:t>
            </a:r>
            <a:r>
              <a:rPr sz="1250" b="0" dirty="0">
                <a:solidFill>
                  <a:srgbClr val="1C1D22"/>
                </a:solidFill>
                <a:latin typeface="Montserrat"/>
              </a:rPr>
              <a:t> </a:t>
            </a:r>
            <a:r>
              <a:rPr sz="1250" b="0" dirty="0" err="1">
                <a:solidFill>
                  <a:srgbClr val="1C1D22"/>
                </a:solidFill>
                <a:latin typeface="Montserrat"/>
              </a:rPr>
              <a:t>кандидата</a:t>
            </a:r>
            <a:r>
              <a:rPr sz="1250" b="0" dirty="0">
                <a:solidFill>
                  <a:srgbClr val="1C1D22"/>
                </a:solidFill>
                <a:latin typeface="Montserrat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997862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37673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13</a:t>
            </a:fld>
            <a:endParaRPr lang="ru-RU" dirty="0"/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6075" y="1424510"/>
          <a:ext cx="5749925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3675888" cy="376138"/>
          </a:xfrm>
        </p:spPr>
        <p:txBody>
          <a:bodyPr/>
          <a:lstStyle/>
          <a:p>
            <a:r>
              <a:t>ПРОВЕРКА ПОДБОРА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411480" y="5715000"/>
            <a:ext cx="5669280" cy="54864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ontserrat"/>
              </a:rPr>
              <a:t>40 вакансий и 1000 синтетических кандидатов; разметка «подходит / не подходит» — по скрытому настоящему уровню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1024128"/>
            <a:ext cx="5120640" cy="146304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76,8 % против 66,2 %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1C1D22"/>
                </a:solidFill>
                <a:latin typeface="Montserrat"/>
              </a:rPr>
              <a:t>Доля точно подходящих кандидатов в первой десятке: IT Match и выдача по резюме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944368"/>
            <a:ext cx="5120640" cy="146304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dirty="0">
                <a:solidFill>
                  <a:srgbClr val="FF0053"/>
                </a:solidFill>
                <a:latin typeface="Montserrat"/>
              </a:rPr>
              <a:t>0,85 </a:t>
            </a:r>
            <a:r>
              <a:rPr sz="2200" b="1" dirty="0" err="1">
                <a:solidFill>
                  <a:srgbClr val="FF0053"/>
                </a:solidFill>
                <a:latin typeface="Montserrat"/>
              </a:rPr>
              <a:t>против</a:t>
            </a:r>
            <a:r>
              <a:rPr sz="2200" b="1" dirty="0">
                <a:solidFill>
                  <a:srgbClr val="FF0053"/>
                </a:solidFill>
                <a:latin typeface="Montserrat"/>
              </a:rPr>
              <a:t> 0,77</a:t>
            </a:r>
          </a:p>
          <a:p>
            <a:pPr algn="l">
              <a:spcAft>
                <a:spcPts val="0"/>
              </a:spcAft>
            </a:pPr>
            <a:r>
              <a:rPr sz="1250" b="0" dirty="0" err="1">
                <a:solidFill>
                  <a:srgbClr val="1C1D22"/>
                </a:solidFill>
                <a:latin typeface="Montserrat"/>
              </a:rPr>
              <a:t>Качество</a:t>
            </a:r>
            <a:r>
              <a:rPr sz="1250" b="0" dirty="0">
                <a:solidFill>
                  <a:srgbClr val="1C1D22"/>
                </a:solidFill>
                <a:latin typeface="Montserrat"/>
              </a:rPr>
              <a:t> </a:t>
            </a:r>
            <a:r>
              <a:rPr sz="1250" b="0" dirty="0" err="1">
                <a:solidFill>
                  <a:srgbClr val="1C1D22"/>
                </a:solidFill>
                <a:latin typeface="Montserrat"/>
              </a:rPr>
              <a:t>порядка</a:t>
            </a:r>
            <a:r>
              <a:rPr sz="1250" b="0" dirty="0">
                <a:solidFill>
                  <a:srgbClr val="1C1D22"/>
                </a:solidFill>
                <a:latin typeface="Montserrat"/>
              </a:rPr>
              <a:t> </a:t>
            </a:r>
            <a:r>
              <a:rPr sz="1250" b="0" dirty="0" err="1">
                <a:solidFill>
                  <a:srgbClr val="1C1D22"/>
                </a:solidFill>
                <a:latin typeface="Montserrat"/>
              </a:rPr>
              <a:t>в</a:t>
            </a:r>
            <a:r>
              <a:rPr sz="1250" b="0" dirty="0">
                <a:solidFill>
                  <a:srgbClr val="1C1D22"/>
                </a:solidFill>
                <a:latin typeface="Montserrat"/>
              </a:rPr>
              <a:t> </a:t>
            </a:r>
            <a:r>
              <a:rPr sz="1250" b="0" dirty="0" err="1">
                <a:solidFill>
                  <a:srgbClr val="1C1D22"/>
                </a:solidFill>
                <a:latin typeface="Montserrat"/>
              </a:rPr>
              <a:t>первой</a:t>
            </a:r>
            <a:r>
              <a:rPr sz="1250" b="0" dirty="0">
                <a:solidFill>
                  <a:srgbClr val="1C1D22"/>
                </a:solidFill>
                <a:latin typeface="Montserrat"/>
              </a:rPr>
              <a:t> </a:t>
            </a:r>
            <a:r>
              <a:rPr sz="1250" b="0" dirty="0" err="1">
                <a:solidFill>
                  <a:srgbClr val="1C1D22"/>
                </a:solidFill>
                <a:latin typeface="Montserrat"/>
              </a:rPr>
              <a:t>десятке</a:t>
            </a:r>
            <a:r>
              <a:rPr sz="1250" b="0" dirty="0">
                <a:solidFill>
                  <a:srgbClr val="1C1D22"/>
                </a:solidFill>
                <a:latin typeface="Montserrat"/>
              </a:rPr>
              <a:t> (nDCG@10)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4855464"/>
            <a:ext cx="5120640" cy="146304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5,8 % против 28 %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1C1D22"/>
                </a:solidFill>
                <a:latin typeface="Montserrat"/>
              </a:rPr>
              <a:t>Переоценённые в первой десятке: настоящий грейд ниже, чем нужен вакансии</a:t>
            </a:r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673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14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t>ИНТЕГРАЦИЯ С ФСП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Как привязывается профиль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Что это даёт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5216" y="2011680"/>
            <a:ext cx="4937760" cy="411480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marL="200025" indent="-200025" algn="l">
              <a:spcAft>
                <a:spcPts val="900"/>
              </a:spcAft>
              <a:buClr>
                <a:srgbClr val="FF0053"/>
              </a:buClr>
              <a:buFont typeface="Arial"/>
              <a:buChar char="•"/>
            </a:pPr>
            <a:r>
              <a:rPr sz="1450" b="0">
                <a:solidFill>
                  <a:srgbClr val="1C1D22"/>
                </a:solidFill>
                <a:latin typeface="Montserrat"/>
              </a:rPr>
              <a:t>Кандидат вводит ID участника ФСП</a:t>
            </a:r>
          </a:p>
          <a:p>
            <a:pPr marL="200025" indent="-200025" algn="l">
              <a:spcAft>
                <a:spcPts val="900"/>
              </a:spcAft>
              <a:buClr>
                <a:srgbClr val="FF0053"/>
              </a:buClr>
              <a:buFont typeface="Arial"/>
              <a:buChar char="•"/>
            </a:pPr>
            <a:r>
              <a:rPr sz="1450" b="0">
                <a:solidFill>
                  <a:srgbClr val="1C1D22"/>
                </a:solidFill>
                <a:latin typeface="Montserrat"/>
              </a:rPr>
              <a:t>Код подтверждения приходит владельцу аккаунта ФСП: 10 минут, 5 попыток</a:t>
            </a:r>
          </a:p>
          <a:p>
            <a:pPr marL="200025" indent="-200025" algn="l">
              <a:spcAft>
                <a:spcPts val="900"/>
              </a:spcAft>
              <a:buClr>
                <a:srgbClr val="FF0053"/>
              </a:buClr>
              <a:buFont typeface="Arial"/>
              <a:buChar char="•"/>
            </a:pPr>
            <a:r>
              <a:rPr sz="1450" b="0">
                <a:solidFill>
                  <a:srgbClr val="1C1D22"/>
                </a:solidFill>
                <a:latin typeface="Montserrat"/>
              </a:rPr>
              <a:t>Достижения загружаются и обновляются в фоне</a:t>
            </a:r>
          </a:p>
          <a:p>
            <a:pPr marL="200025" indent="-200025" algn="l">
              <a:spcAft>
                <a:spcPts val="900"/>
              </a:spcAft>
              <a:buClr>
                <a:srgbClr val="FF0053"/>
              </a:buClr>
              <a:buFont typeface="Arial"/>
              <a:buChar char="•"/>
            </a:pPr>
            <a:r>
              <a:rPr sz="1450" b="0">
                <a:solidFill>
                  <a:srgbClr val="1C1D22"/>
                </a:solidFill>
                <a:latin typeface="Montserrat"/>
              </a:rPr>
              <a:t>Один аккаунт ФСП — один профиль</a:t>
            </a:r>
          </a:p>
          <a:p>
            <a:pPr marL="200025" indent="-200025" algn="l">
              <a:spcAft>
                <a:spcPts val="900"/>
              </a:spcAft>
              <a:buClr>
                <a:srgbClr val="FF0053"/>
              </a:buClr>
              <a:buFont typeface="Arial"/>
              <a:buChar char="•"/>
            </a:pPr>
            <a:r>
              <a:rPr sz="1450" b="0">
                <a:solidFill>
                  <a:srgbClr val="1C1D22"/>
                </a:solidFill>
                <a:latin typeface="Montserrat"/>
              </a:rPr>
              <a:t>API ФСП не выдаётся, поэтому работает сервис-заглушка; настоящий API подключается заменой одного клиента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10528" y="2011680"/>
            <a:ext cx="4937760" cy="411480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marL="200025" indent="-200025" algn="l">
              <a:spcAft>
                <a:spcPts val="900"/>
              </a:spcAft>
              <a:buClr>
                <a:srgbClr val="FF0053"/>
              </a:buClr>
              <a:buFont typeface="Arial"/>
              <a:buChar char="•"/>
            </a:pPr>
            <a:r>
              <a:rPr sz="1450" b="0">
                <a:solidFill>
                  <a:srgbClr val="1C1D22"/>
                </a:solidFill>
                <a:latin typeface="Montserrat"/>
              </a:rPr>
              <a:t>Уровень в каждой дисциплине — базовый, продвинутый, элитный — по числу призовых мест и финалов</a:t>
            </a:r>
          </a:p>
          <a:p>
            <a:pPr marL="200025" indent="-200025" algn="l">
              <a:spcAft>
                <a:spcPts val="900"/>
              </a:spcAft>
              <a:buClr>
                <a:srgbClr val="FF0053"/>
              </a:buClr>
              <a:buFont typeface="Arial"/>
              <a:buChar char="•"/>
            </a:pPr>
            <a:r>
              <a:rPr sz="1450" b="0">
                <a:solidFill>
                  <a:srgbClr val="1C1D22"/>
                </a:solidFill>
                <a:latin typeface="Montserrat"/>
              </a:rPr>
              <a:t>Дисциплины между собой не сравниваются</a:t>
            </a:r>
          </a:p>
          <a:p>
            <a:pPr marL="200025" indent="-200025" algn="l">
              <a:spcAft>
                <a:spcPts val="900"/>
              </a:spcAft>
              <a:buClr>
                <a:srgbClr val="FF0053"/>
              </a:buClr>
              <a:buFont typeface="Arial"/>
              <a:buChar char="•"/>
            </a:pPr>
            <a:r>
              <a:rPr sz="1450" b="0">
                <a:solidFill>
                  <a:srgbClr val="1C1D22"/>
                </a:solidFill>
                <a:latin typeface="Montserrat"/>
              </a:rPr>
              <a:t>Работодатель видит уровень без ID и названий соревнований; есть фильтр «только с ФСП»</a:t>
            </a:r>
          </a:p>
          <a:p>
            <a:pPr marL="200025" indent="-200025" algn="l">
              <a:spcAft>
                <a:spcPts val="900"/>
              </a:spcAft>
              <a:buClr>
                <a:srgbClr val="FF0053"/>
              </a:buClr>
              <a:buFont typeface="Arial"/>
              <a:buChar char="•"/>
            </a:pPr>
            <a:r>
              <a:rPr sz="1450" b="0">
                <a:solidFill>
                  <a:srgbClr val="1C1D22"/>
                </a:solidFill>
                <a:latin typeface="Montserrat"/>
              </a:rPr>
              <a:t>Нет истории ФСП — кандидат проходит тот же путь и попадает в каталог, просто без надбавки</a:t>
            </a:r>
          </a:p>
          <a:p>
            <a:pPr marL="200025" indent="-200025" algn="l">
              <a:spcAft>
                <a:spcPts val="900"/>
              </a:spcAft>
              <a:buClr>
                <a:srgbClr val="FF0053"/>
              </a:buClr>
              <a:buFont typeface="Arial"/>
              <a:buChar char="•"/>
            </a:pPr>
            <a:r>
              <a:rPr sz="1450" b="0">
                <a:solidFill>
                  <a:srgbClr val="1C1D22"/>
                </a:solidFill>
                <a:latin typeface="Montserrat"/>
              </a:rPr>
              <a:t>Паспорт навыков: подписанный документ с публичной ссылкой и QR-кодом</a:t>
            </a: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15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t>АРХИТЕКТУРА</a:t>
            </a:r>
            <a:endParaRPr lang="ru-RU" sz="3600" dirty="0">
              <a:solidFill>
                <a:schemeClr val="bg1"/>
              </a:solidFill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2743200" y="1536192"/>
            <a:ext cx="274320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5209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743200" y="1536192"/>
            <a:ext cx="2743200" cy="658368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D1451"/>
                </a:solidFill>
                <a:latin typeface="Montserrat"/>
              </a:rPr>
              <a:t>Браузер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A5B66"/>
                </a:solidFill>
                <a:latin typeface="Montserrat"/>
              </a:rPr>
              <a:t>React-приложение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11680" y="2606040"/>
            <a:ext cx="420624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5209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011680" y="2606040"/>
            <a:ext cx="4206240" cy="658368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D1451"/>
                </a:solidFill>
                <a:latin typeface="Montserrat"/>
              </a:rPr>
              <a:t>proxy · Caddy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A5B66"/>
                </a:solidFill>
                <a:latin typeface="Montserrat"/>
              </a:rPr>
              <a:t>HTTPS, заголовки защиты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3703320"/>
            <a:ext cx="21488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5209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85800" y="3703320"/>
            <a:ext cx="2148840" cy="86868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D1451"/>
                </a:solidFill>
                <a:latin typeface="Montserrat"/>
              </a:rPr>
              <a:t>web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A5B66"/>
                </a:solidFill>
                <a:latin typeface="Montserrat"/>
              </a:rPr>
              <a:t>готовые файлы фронтенда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044952" y="3703320"/>
            <a:ext cx="2148840" cy="868680"/>
          </a:xfrm>
          <a:prstGeom prst="roundRect">
            <a:avLst>
              <a:gd name="adj" fmla="val 12000"/>
            </a:avLst>
          </a:prstGeom>
          <a:solidFill>
            <a:srgbClr val="FFD6E3"/>
          </a:solidFill>
          <a:ln w="25400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044952" y="3703320"/>
            <a:ext cx="2148840" cy="86868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D1451"/>
                </a:solidFill>
                <a:latin typeface="Montserrat"/>
              </a:rPr>
              <a:t>api · FastAPI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A5B66"/>
                </a:solidFill>
                <a:latin typeface="Montserrat"/>
              </a:rPr>
              <a:t>логика и проверка прав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94960" y="3703320"/>
            <a:ext cx="21488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5209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394960" y="3703320"/>
            <a:ext cx="2148840" cy="86868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D1451"/>
                </a:solidFill>
                <a:latin typeface="Montserrat"/>
              </a:rPr>
              <a:t>fsp-mock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A5B66"/>
                </a:solidFill>
                <a:latin typeface="Montserrat"/>
              </a:rPr>
              <a:t>заглушка ФСП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5074920"/>
            <a:ext cx="21488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5209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85800" y="5074920"/>
            <a:ext cx="2148840" cy="86868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D1451"/>
                </a:solidFill>
                <a:latin typeface="Montserrat"/>
              </a:rPr>
              <a:t>db · PostgreSQL 16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A5B66"/>
                </a:solidFill>
                <a:latin typeface="Montserrat"/>
              </a:rPr>
              <a:t>30 таблиц, защита строк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044952" y="5074920"/>
            <a:ext cx="21488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5209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044952" y="5074920"/>
            <a:ext cx="2148840" cy="86868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D1451"/>
                </a:solidFill>
                <a:latin typeface="Montserrat"/>
              </a:rPr>
              <a:t>worker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A5B66"/>
                </a:solidFill>
                <a:latin typeface="Montserrat"/>
              </a:rPr>
              <a:t>письма, сроки, ФСП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394960" y="5074920"/>
            <a:ext cx="21488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5209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394960" y="5074920"/>
            <a:ext cx="2148840" cy="86868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D1451"/>
                </a:solidFill>
                <a:latin typeface="Montserrat"/>
              </a:rPr>
              <a:t>Почта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A5B66"/>
                </a:solidFill>
                <a:latin typeface="Montserrat"/>
              </a:rPr>
              <a:t>SMTP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114800" y="2194560"/>
            <a:ext cx="0" cy="411480"/>
          </a:xfrm>
          <a:prstGeom prst="line">
            <a:avLst/>
          </a:prstGeom>
          <a:ln w="15875">
            <a:solidFill>
              <a:srgbClr val="5209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114800" y="3264408"/>
            <a:ext cx="0" cy="438912"/>
          </a:xfrm>
          <a:prstGeom prst="line">
            <a:avLst/>
          </a:prstGeom>
          <a:ln w="15875">
            <a:solidFill>
              <a:srgbClr val="5209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1783080" y="3264408"/>
            <a:ext cx="868680" cy="438912"/>
          </a:xfrm>
          <a:prstGeom prst="line">
            <a:avLst/>
          </a:prstGeom>
          <a:ln w="15875">
            <a:solidFill>
              <a:srgbClr val="5209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5193792" y="4133087"/>
            <a:ext cx="201168" cy="0"/>
          </a:xfrm>
          <a:prstGeom prst="line">
            <a:avLst/>
          </a:prstGeom>
          <a:ln w="15875">
            <a:solidFill>
              <a:srgbClr val="5209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2377440" y="4572000"/>
            <a:ext cx="914400" cy="502920"/>
          </a:xfrm>
          <a:prstGeom prst="line">
            <a:avLst/>
          </a:prstGeom>
          <a:ln w="15875">
            <a:solidFill>
              <a:srgbClr val="5209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2834640" y="5504688"/>
            <a:ext cx="210312" cy="0"/>
          </a:xfrm>
          <a:prstGeom prst="line">
            <a:avLst/>
          </a:prstGeom>
          <a:ln w="15875">
            <a:solidFill>
              <a:srgbClr val="5209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193792" y="5504688"/>
            <a:ext cx="201168" cy="0"/>
          </a:xfrm>
          <a:prstGeom prst="line">
            <a:avLst/>
          </a:prstGeom>
          <a:ln w="15875">
            <a:solidFill>
              <a:srgbClr val="5209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937760" y="4572000"/>
            <a:ext cx="914400" cy="502920"/>
          </a:xfrm>
          <a:prstGeom prst="line">
            <a:avLst/>
          </a:prstGeom>
          <a:ln w="15875">
            <a:solidFill>
              <a:srgbClr val="5209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8001000" y="1600200"/>
            <a:ext cx="3611880" cy="448056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520977"/>
                </a:solidFill>
                <a:latin typeface="Montserrat"/>
              </a:rPr>
              <a:t>Стек</a:t>
            </a:r>
          </a:p>
          <a:p>
            <a:pPr marL="200025" indent="-200025" algn="l">
              <a:spcAft>
                <a:spcPts val="400"/>
              </a:spcAft>
              <a:buClr>
                <a:srgbClr val="FF0053"/>
              </a:buClr>
              <a:buFont typeface="Arial"/>
              <a:buChar char="•"/>
            </a:pPr>
            <a:r>
              <a:rPr sz="1250" b="0">
                <a:solidFill>
                  <a:srgbClr val="1C1D22"/>
                </a:solidFill>
                <a:latin typeface="Montserrat"/>
              </a:rPr>
              <a:t>Python 3.12, FastAPI, SQLAlchemy</a:t>
            </a:r>
          </a:p>
          <a:p>
            <a:pPr marL="200025" indent="-200025" algn="l">
              <a:spcAft>
                <a:spcPts val="400"/>
              </a:spcAft>
              <a:buClr>
                <a:srgbClr val="FF0053"/>
              </a:buClr>
              <a:buFont typeface="Arial"/>
              <a:buChar char="•"/>
            </a:pPr>
            <a:r>
              <a:rPr sz="1250" b="0">
                <a:solidFill>
                  <a:srgbClr val="1C1D22"/>
                </a:solidFill>
                <a:latin typeface="Montserrat"/>
              </a:rPr>
              <a:t>PostgreSQL 16</a:t>
            </a:r>
          </a:p>
          <a:p>
            <a:pPr marL="200025" indent="-200025" algn="l">
              <a:spcAft>
                <a:spcPts val="400"/>
              </a:spcAft>
              <a:buClr>
                <a:srgbClr val="FF0053"/>
              </a:buClr>
              <a:buFont typeface="Arial"/>
              <a:buChar char="•"/>
            </a:pPr>
            <a:r>
              <a:rPr sz="1250" b="0">
                <a:solidFill>
                  <a:srgbClr val="1C1D22"/>
                </a:solidFill>
                <a:latin typeface="Montserrat"/>
              </a:rPr>
              <a:t>React 19, TypeScript, Vite, Tailwind</a:t>
            </a:r>
          </a:p>
          <a:p>
            <a:pPr marL="200025" indent="-200025" algn="l">
              <a:spcAft>
                <a:spcPts val="400"/>
              </a:spcAft>
              <a:buClr>
                <a:srgbClr val="FF0053"/>
              </a:buClr>
              <a:buFont typeface="Arial"/>
              <a:buChar char="•"/>
            </a:pPr>
            <a:r>
              <a:rPr sz="1250" b="0">
                <a:solidFill>
                  <a:srgbClr val="1C1D22"/>
                </a:solidFill>
                <a:latin typeface="Montserrat"/>
              </a:rPr>
              <a:t>Caddy, Docker Compose</a:t>
            </a:r>
          </a:p>
          <a:p>
            <a:pPr algn="l">
              <a:spcAft>
                <a:spcPts val="0"/>
              </a:spcAft>
            </a:pPr>
            <a:r>
              <a:rPr sz="600" b="0">
                <a:solidFill>
                  <a:srgbClr val="1C1D22"/>
                </a:solidFill>
                <a:latin typeface="Montserrat"/>
              </a:rPr>
              <a:t> 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520977"/>
                </a:solidFill>
                <a:latin typeface="Montserrat"/>
              </a:rPr>
              <a:t>Как устроено</a:t>
            </a:r>
          </a:p>
          <a:p>
            <a:pPr marL="200025" indent="-200025" algn="l">
              <a:spcAft>
                <a:spcPts val="400"/>
              </a:spcAft>
              <a:buClr>
                <a:srgbClr val="FF0053"/>
              </a:buClr>
              <a:buFont typeface="Arial"/>
              <a:buChar char="•"/>
            </a:pPr>
            <a:r>
              <a:rPr sz="1250" b="0">
                <a:solidFill>
                  <a:srgbClr val="1C1D22"/>
                </a:solidFill>
                <a:latin typeface="Montserrat"/>
              </a:rPr>
              <a:t>Наружу открыт только прокси; база и API — во внутренней сети</a:t>
            </a:r>
          </a:p>
          <a:p>
            <a:pPr marL="200025" indent="-200025" algn="l">
              <a:spcAft>
                <a:spcPts val="400"/>
              </a:spcAft>
              <a:buClr>
                <a:srgbClr val="FF0053"/>
              </a:buClr>
              <a:buFont typeface="Arial"/>
              <a:buChar char="•"/>
            </a:pPr>
            <a:r>
              <a:rPr sz="1250" b="0">
                <a:solidFill>
                  <a:srgbClr val="1C1D22"/>
                </a:solidFill>
                <a:latin typeface="Montserrat"/>
              </a:rPr>
              <a:t>Бэкенд разделён на слои: API, сценарии, доступ к данным</a:t>
            </a:r>
          </a:p>
          <a:p>
            <a:pPr marL="200025" indent="-200025" algn="l">
              <a:spcAft>
                <a:spcPts val="400"/>
              </a:spcAft>
              <a:buClr>
                <a:srgbClr val="FF0053"/>
              </a:buClr>
              <a:buFont typeface="Arial"/>
              <a:buChar char="•"/>
            </a:pPr>
            <a:r>
              <a:rPr sz="1250" b="0">
                <a:solidFill>
                  <a:srgbClr val="1C1D22"/>
                </a:solidFill>
                <a:latin typeface="Montserrat"/>
              </a:rPr>
              <a:t>Каждый сервис — отдельный контейнер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r>
              <a:rPr>
                <a:solidFill>
                  <a:srgbClr val="520977"/>
                </a:solidFill>
              </a:rPr>
              <a:t>ТЕХНИЧЕСКАЯ ПРОРАБОТКА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16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21207" y="1645920"/>
            <a:ext cx="2926080" cy="77724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0" y="1645920"/>
            <a:ext cx="8229600" cy="77724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C1D22"/>
                </a:solidFill>
                <a:latin typeface="Montserrat"/>
              </a:rPr>
              <a:t>Пароли хранятся как хэш argon2id. Сессия — короткий токен в памяти и сменяемый токен в защищённой cookie. Администратор входит с двухфакторной защитой.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7" y="2514600"/>
            <a:ext cx="2926080" cy="77724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Персональные данные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2514600"/>
            <a:ext cx="8229600" cy="77724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C1D22"/>
                </a:solidFill>
                <a:latin typeface="Montserrat"/>
              </a:rPr>
              <a:t>ФИО и контакты зашифрованы (AES-256-GCM). База сама отсекает чужие строки: Row Level Security на 18 таблицах. Есть согласие на обработку и удаление аккаунта (152-ФЗ).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7" y="3392424"/>
            <a:ext cx="2926080" cy="77724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API и документация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0" y="3392424"/>
            <a:ext cx="8229600" cy="77724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C1D22"/>
                </a:solidFill>
                <a:latin typeface="Montserrat"/>
              </a:rPr>
              <a:t>112 методов с описанием OpenAPI (Swagger). Сопроводительная документация: архитектура, тестирование, подбор, валидация, интеграции, запуск.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7" y="4224528"/>
            <a:ext cx="2926080" cy="77724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Качество кода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4224528"/>
            <a:ext cx="8229600" cy="77724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C1D22"/>
                </a:solidFill>
                <a:latin typeface="Montserrat"/>
              </a:rPr>
              <a:t>Автотесты бэкенда, фронтенда и заглушки ФСП. На каждую отправку кода — линтер, тесты, аудит зависимостей и сквозной запуск в Docker.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7" y="5093207"/>
            <a:ext cx="2926080" cy="77724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Запуск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0" y="5165587"/>
            <a:ext cx="8229600" cy="632481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r>
              <a:rPr sz="1250" b="0" dirty="0" err="1">
                <a:solidFill>
                  <a:srgbClr val="1C1D22"/>
                </a:solidFill>
                <a:latin typeface="Montserrat"/>
              </a:rPr>
              <a:t>Две</a:t>
            </a:r>
            <a:r>
              <a:rPr sz="1250" b="0" dirty="0">
                <a:solidFill>
                  <a:srgbClr val="1C1D22"/>
                </a:solidFill>
                <a:latin typeface="Montserrat"/>
              </a:rPr>
              <a:t> </a:t>
            </a:r>
            <a:r>
              <a:rPr sz="1250" b="0" dirty="0" err="1">
                <a:solidFill>
                  <a:srgbClr val="1C1D22"/>
                </a:solidFill>
                <a:latin typeface="Montserrat"/>
              </a:rPr>
              <a:t>команды</a:t>
            </a:r>
            <a:r>
              <a:rPr sz="1250" b="0" dirty="0">
                <a:solidFill>
                  <a:srgbClr val="1C1D22"/>
                </a:solidFill>
                <a:latin typeface="Montserrat"/>
              </a:rPr>
              <a:t> </a:t>
            </a:r>
            <a:r>
              <a:rPr sz="1250" b="0" dirty="0" err="1">
                <a:solidFill>
                  <a:srgbClr val="1C1D22"/>
                </a:solidFill>
                <a:latin typeface="Montserrat"/>
              </a:rPr>
              <a:t>поднимают</a:t>
            </a:r>
            <a:r>
              <a:rPr sz="1250" b="0" dirty="0">
                <a:solidFill>
                  <a:srgbClr val="1C1D22"/>
                </a:solidFill>
                <a:latin typeface="Montserrat"/>
              </a:rPr>
              <a:t> </a:t>
            </a:r>
            <a:r>
              <a:rPr sz="1250" b="0" dirty="0" err="1">
                <a:solidFill>
                  <a:srgbClr val="1C1D22"/>
                </a:solidFill>
                <a:latin typeface="Montserrat"/>
              </a:rPr>
              <a:t>всё</a:t>
            </a:r>
            <a:r>
              <a:rPr sz="1250" b="0" dirty="0">
                <a:solidFill>
                  <a:srgbClr val="1C1D22"/>
                </a:solidFill>
                <a:latin typeface="Montserrat"/>
              </a:rPr>
              <a:t> </a:t>
            </a:r>
            <a:r>
              <a:rPr sz="1250" b="0" dirty="0" err="1">
                <a:solidFill>
                  <a:srgbClr val="1C1D22"/>
                </a:solidFill>
                <a:latin typeface="Montserrat"/>
              </a:rPr>
              <a:t>локально</a:t>
            </a:r>
            <a:r>
              <a:rPr sz="1250" b="0" dirty="0">
                <a:solidFill>
                  <a:srgbClr val="1C1D22"/>
                </a:solidFill>
                <a:latin typeface="Montserrat"/>
              </a:rPr>
              <a:t>: make env </a:t>
            </a:r>
            <a:r>
              <a:rPr sz="1250" b="0" dirty="0" err="1">
                <a:solidFill>
                  <a:srgbClr val="1C1D22"/>
                </a:solidFill>
                <a:latin typeface="Montserrat"/>
              </a:rPr>
              <a:t>и</a:t>
            </a:r>
            <a:r>
              <a:rPr sz="1250" b="0" dirty="0">
                <a:solidFill>
                  <a:srgbClr val="1C1D22"/>
                </a:solidFill>
                <a:latin typeface="Montserrat"/>
              </a:rPr>
              <a:t> make dev. </a:t>
            </a:r>
            <a:r>
              <a:rPr lang="ru-RU" sz="1250" dirty="0">
                <a:solidFill>
                  <a:srgbClr val="1C1D22"/>
                </a:solidFill>
                <a:latin typeface="Montserrat"/>
              </a:rPr>
              <a:t>Также решение развернуто по адресу </a:t>
            </a:r>
            <a:r>
              <a:rPr lang="en-GB" sz="1250" dirty="0">
                <a:solidFill>
                  <a:srgbClr val="1C1D22"/>
                </a:solidFill>
                <a:latin typeface="Montserrat"/>
              </a:rPr>
              <a:t>https://201-24-62-88.sslip.io</a:t>
            </a:r>
          </a:p>
          <a:p>
            <a:endParaRPr sz="1250" b="0" dirty="0">
              <a:solidFill>
                <a:srgbClr val="1C1D22"/>
              </a:solidFill>
              <a:latin typeface="Montserrat"/>
            </a:endParaRPr>
          </a:p>
        </p:txBody>
      </p: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r>
              <a:rPr>
                <a:solidFill>
                  <a:srgbClr val="520977"/>
                </a:solidFill>
              </a:rPr>
              <a:t>ЦЕННОСТЬ ДЛЯ УЧАСТНИКОВ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22960" y="1737360"/>
            <a:ext cx="1371600" cy="54864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0">
                <a:solidFill>
                  <a:srgbClr val="FF0053"/>
                </a:solidFill>
                <a:latin typeface="Montserrat"/>
              </a:rPr>
              <a:t>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2331720"/>
            <a:ext cx="2880360" cy="548640"/>
          </a:xfrm>
          <a:prstGeom prst="rect">
            <a:avLst/>
          </a:prstGeom>
          <a:noFill/>
        </p:spPr>
        <p:txBody>
          <a:bodyPr wrap="square" lIns="36576" tIns="27432" rIns="36576" bIns="27432" anchor="b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520977"/>
                </a:solidFill>
                <a:latin typeface="Montserrat"/>
              </a:rPr>
              <a:t>Кандидат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017520"/>
            <a:ext cx="2880360" cy="301752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C1D22"/>
                </a:solidFill>
                <a:latin typeface="Montserrat"/>
              </a:rPr>
              <a:t>Условия и вилка видны до начала общения. Не нужно рассылать отклики: достаточно один раз подтвердить грейд. Контакты открываются только с согласия.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45152" y="1737360"/>
            <a:ext cx="1371600" cy="54864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0">
                <a:solidFill>
                  <a:srgbClr val="FF0053"/>
                </a:solidFill>
                <a:latin typeface="Montserrat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45152" y="2331720"/>
            <a:ext cx="2971800" cy="548640"/>
          </a:xfrm>
          <a:prstGeom prst="rect">
            <a:avLst/>
          </a:prstGeom>
          <a:noFill/>
        </p:spPr>
        <p:txBody>
          <a:bodyPr wrap="square" lIns="36576" tIns="27432" rIns="36576" bIns="27432" anchor="b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520977"/>
                </a:solidFill>
                <a:latin typeface="Montserrat"/>
              </a:rPr>
              <a:t>Работодатель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45152" y="3017520"/>
            <a:ext cx="2971800" cy="301752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C1D22"/>
                </a:solidFill>
                <a:latin typeface="Montserrat"/>
              </a:rPr>
              <a:t>Готовая категория проверенных специалистов вместо разбора откликов. Понятно, почему кандидат в подборке. Технические специалисты не тратят время на первичный отсев.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77072" y="1737360"/>
            <a:ext cx="1371600" cy="54864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0">
                <a:solidFill>
                  <a:srgbClr val="FF0053"/>
                </a:solidFill>
                <a:latin typeface="Montserrat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77072" y="2331720"/>
            <a:ext cx="2880360" cy="548640"/>
          </a:xfrm>
          <a:prstGeom prst="rect">
            <a:avLst/>
          </a:prstGeom>
          <a:noFill/>
        </p:spPr>
        <p:txBody>
          <a:bodyPr wrap="square" lIns="36576" tIns="27432" rIns="36576" bIns="27432" anchor="b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520977"/>
                </a:solidFill>
                <a:latin typeface="Montserrat"/>
              </a:rPr>
              <a:t>ФСП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77072" y="3017520"/>
            <a:ext cx="2880360" cy="301752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C1D22"/>
                </a:solidFill>
                <a:latin typeface="Montserrat"/>
              </a:rPr>
              <a:t>Спортивные результаты участников получают карьерную ценность. У сообщества появляется ещё одна причина участвовать в соревнованиях, у партнёров — доступ к сильным кандидатам.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5175503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18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БИЗНЕС-МОДЕЛЬ: ГИПОТЕЗЫ</a:t>
            </a:r>
            <a:endParaRPr lang="ru-RU" dirty="0"/>
          </a:p>
        </p:txBody>
      </p:sp>
      <p:sp>
        <p:nvSpPr>
          <p:cNvPr id="28" name="TextBox 27"/>
          <p:cNvSpPr txBox="1"/>
          <p:nvPr/>
        </p:nvSpPr>
        <p:spPr>
          <a:xfrm>
            <a:off x="521207" y="1691640"/>
            <a:ext cx="1371600" cy="54864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0">
                <a:solidFill>
                  <a:srgbClr val="FF0053"/>
                </a:solidFill>
                <a:latin typeface="Montserrat"/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1207" y="2286000"/>
            <a:ext cx="2331720" cy="548640"/>
          </a:xfrm>
          <a:prstGeom prst="rect">
            <a:avLst/>
          </a:prstGeom>
          <a:noFill/>
        </p:spPr>
        <p:txBody>
          <a:bodyPr wrap="square" lIns="36576" tIns="27432" rIns="36576" bIns="27432" anchor="b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520977"/>
                </a:solidFill>
                <a:latin typeface="Montserrat"/>
              </a:rPr>
              <a:t>Кто платит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7" y="3017520"/>
            <a:ext cx="2331720" cy="301752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C1D22"/>
                </a:solidFill>
                <a:latin typeface="Montserrat"/>
              </a:rPr>
              <a:t>Работодатель. Для кандидатов и участников ФСП сервис бесплатный.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65576" y="1691640"/>
            <a:ext cx="1371600" cy="54864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0">
                <a:solidFill>
                  <a:srgbClr val="FF0053"/>
                </a:solidFill>
                <a:latin typeface="Montserrat"/>
              </a:rPr>
              <a:t>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65576" y="2286000"/>
            <a:ext cx="2331720" cy="548640"/>
          </a:xfrm>
          <a:prstGeom prst="rect">
            <a:avLst/>
          </a:prstGeom>
          <a:noFill/>
        </p:spPr>
        <p:txBody>
          <a:bodyPr wrap="square" lIns="36576" tIns="27432" rIns="36576" bIns="27432" anchor="b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520977"/>
                </a:solidFill>
                <a:latin typeface="Montserrat"/>
              </a:rPr>
              <a:t>За что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65576" y="3017520"/>
            <a:ext cx="2331720" cy="301752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C1D22"/>
                </a:solidFill>
                <a:latin typeface="Montserrat"/>
              </a:rPr>
              <a:t>Подписка на доступ к каталогу или оплата за принятое приглашение. Отметка «Проверенная компания» — отдельная услуга.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1691640"/>
            <a:ext cx="1371600" cy="54864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0">
                <a:solidFill>
                  <a:srgbClr val="FF0053"/>
                </a:solidFill>
                <a:latin typeface="Montserrat"/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2286000"/>
            <a:ext cx="2331720" cy="548640"/>
          </a:xfrm>
          <a:prstGeom prst="rect">
            <a:avLst/>
          </a:prstGeom>
          <a:noFill/>
        </p:spPr>
        <p:txBody>
          <a:bodyPr wrap="square" lIns="36576" tIns="27432" rIns="36576" bIns="27432" anchor="b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520977"/>
                </a:solidFill>
                <a:latin typeface="Montserrat"/>
              </a:rPr>
              <a:t>Что экономит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3017520"/>
            <a:ext cx="2331720" cy="301752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C1D22"/>
                </a:solidFill>
                <a:latin typeface="Montserrat"/>
              </a:rPr>
              <a:t>Время технических специалистов на первичный отсев и срок закрытия вакансии: в подборке уже проверенные кандидаты.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5168" y="1691640"/>
            <a:ext cx="1371600" cy="54864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0">
                <a:solidFill>
                  <a:srgbClr val="FF0053"/>
                </a:solidFill>
                <a:latin typeface="Montserrat"/>
              </a:rPr>
              <a:t>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45168" y="2286000"/>
            <a:ext cx="2331720" cy="548640"/>
          </a:xfrm>
          <a:prstGeom prst="rect">
            <a:avLst/>
          </a:prstGeom>
          <a:noFill/>
        </p:spPr>
        <p:txBody>
          <a:bodyPr wrap="square" lIns="36576" tIns="27432" rIns="36576" bIns="27432" anchor="b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520977"/>
                </a:solidFill>
                <a:latin typeface="Montserrat"/>
              </a:rPr>
              <a:t>Как проверить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45168" y="3017520"/>
            <a:ext cx="2331720" cy="301752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C1D22"/>
                </a:solidFill>
                <a:latin typeface="Montserrat"/>
              </a:rPr>
              <a:t>Пилот с компаниями-партнёрами ФСП: измерить долю принятых приглашений и срок до оффера.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497433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19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ЧЕМ ОТЛИЧАЕТСЯ РЕШЕНИЕ</a:t>
            </a:r>
            <a:endParaRPr lang="ru-RU" dirty="0"/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57200" y="1280160"/>
          <a:ext cx="11274552" cy="471830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16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endParaRPr/>
                    </a:p>
                  </a:txBody>
                  <a:tcPr marL="137160" marR="137160" anchor="ctr">
                    <a:lnL w="6350">
                      <a:solidFill>
                        <a:srgbClr val="D9D3EE"/>
                      </a:solidFill>
                    </a:lnL>
                    <a:lnR w="6350">
                      <a:solidFill>
                        <a:srgbClr val="D9D3EE"/>
                      </a:solidFill>
                    </a:lnR>
                    <a:lnT w="6350">
                      <a:solidFill>
                        <a:srgbClr val="D9D3EE"/>
                      </a:solidFill>
                    </a:lnT>
                    <a:lnB w="6350">
                      <a:solidFill>
                        <a:srgbClr val="D9D3EE"/>
                      </a:solidFill>
                    </a:lnB>
                    <a:solidFill>
                      <a:srgbClr val="52097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Универсальные площадки</a:t>
                      </a:r>
                    </a:p>
                  </a:txBody>
                  <a:tcPr marL="137160" marR="137160" anchor="ctr">
                    <a:lnL w="6350">
                      <a:solidFill>
                        <a:srgbClr val="D9D3EE"/>
                      </a:solidFill>
                    </a:lnL>
                    <a:lnR w="6350">
                      <a:solidFill>
                        <a:srgbClr val="D9D3EE"/>
                      </a:solidFill>
                    </a:lnR>
                    <a:lnT w="6350">
                      <a:solidFill>
                        <a:srgbClr val="D9D3EE"/>
                      </a:solidFill>
                    </a:lnT>
                    <a:lnB w="6350">
                      <a:solidFill>
                        <a:srgbClr val="D9D3EE"/>
                      </a:solidFill>
                    </a:lnB>
                    <a:solidFill>
                      <a:srgbClr val="52097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IT Match</a:t>
                      </a:r>
                    </a:p>
                  </a:txBody>
                  <a:tcPr marL="137160" marR="137160" anchor="ctr">
                    <a:lnL w="6350">
                      <a:solidFill>
                        <a:srgbClr val="D9D3EE"/>
                      </a:solidFill>
                    </a:lnL>
                    <a:lnR w="6350">
                      <a:solidFill>
                        <a:srgbClr val="D9D3EE"/>
                      </a:solidFill>
                    </a:lnR>
                    <a:lnT w="6350">
                      <a:solidFill>
                        <a:srgbClr val="D9D3EE"/>
                      </a:solidFill>
                    </a:lnT>
                    <a:lnB w="6350">
                      <a:solidFill>
                        <a:srgbClr val="D9D3EE"/>
                      </a:solidFill>
                    </a:lnB>
                    <a:solidFill>
                      <a:srgbClr val="52097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494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520977"/>
                          </a:solidFill>
                          <a:latin typeface="Montserrat"/>
                        </a:rPr>
                        <a:t>Кто делает первый шаг</a:t>
                      </a:r>
                    </a:p>
                  </a:txBody>
                  <a:tcPr marL="137160" marR="137160" anchor="ctr">
                    <a:lnL w="6350">
                      <a:solidFill>
                        <a:srgbClr val="D9D3EE"/>
                      </a:solidFill>
                    </a:lnL>
                    <a:lnR w="6350">
                      <a:solidFill>
                        <a:srgbClr val="D9D3EE"/>
                      </a:solidFill>
                    </a:lnR>
                    <a:lnT w="6350">
                      <a:solidFill>
                        <a:srgbClr val="D9D3EE"/>
                      </a:solidFill>
                    </a:lnT>
                    <a:lnB w="6350">
                      <a:solidFill>
                        <a:srgbClr val="D9D3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D22"/>
                          </a:solidFill>
                          <a:latin typeface="Montserrat"/>
                        </a:rPr>
                        <a:t>Кандидат откликается на вакансию</a:t>
                      </a:r>
                    </a:p>
                  </a:txBody>
                  <a:tcPr marL="137160" marR="137160" anchor="ctr">
                    <a:lnL w="6350">
                      <a:solidFill>
                        <a:srgbClr val="D9D3EE"/>
                      </a:solidFill>
                    </a:lnL>
                    <a:lnR w="6350">
                      <a:solidFill>
                        <a:srgbClr val="D9D3EE"/>
                      </a:solidFill>
                    </a:lnR>
                    <a:lnT w="6350">
                      <a:solidFill>
                        <a:srgbClr val="D9D3EE"/>
                      </a:solidFill>
                    </a:lnT>
                    <a:lnB w="6350">
                      <a:solidFill>
                        <a:srgbClr val="D9D3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D1451"/>
                          </a:solidFill>
                          <a:latin typeface="Montserrat"/>
                        </a:rPr>
                        <a:t>Работодатель приглашает конкретного кандидата</a:t>
                      </a:r>
                    </a:p>
                  </a:txBody>
                  <a:tcPr marL="137160" marR="137160" anchor="ctr">
                    <a:lnL w="6350">
                      <a:solidFill>
                        <a:srgbClr val="D9D3EE"/>
                      </a:solidFill>
                    </a:lnL>
                    <a:lnR w="6350">
                      <a:solidFill>
                        <a:srgbClr val="D9D3EE"/>
                      </a:solidFill>
                    </a:lnR>
                    <a:lnT w="6350">
                      <a:solidFill>
                        <a:srgbClr val="D9D3EE"/>
                      </a:solidFill>
                    </a:lnT>
                    <a:lnB w="6350">
                      <a:solidFill>
                        <a:srgbClr val="D9D3EE"/>
                      </a:solidFill>
                    </a:lnB>
                    <a:solidFill>
                      <a:srgbClr val="FFD6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494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520977"/>
                          </a:solidFill>
                          <a:latin typeface="Montserrat"/>
                        </a:rPr>
                        <a:t>Откуда известен уровень</a:t>
                      </a:r>
                    </a:p>
                  </a:txBody>
                  <a:tcPr marL="137160" marR="137160" anchor="ctr">
                    <a:lnL w="6350">
                      <a:solidFill>
                        <a:srgbClr val="D9D3EE"/>
                      </a:solidFill>
                    </a:lnL>
                    <a:lnR w="6350">
                      <a:solidFill>
                        <a:srgbClr val="D9D3EE"/>
                      </a:solidFill>
                    </a:lnR>
                    <a:lnT w="6350">
                      <a:solidFill>
                        <a:srgbClr val="D9D3EE"/>
                      </a:solidFill>
                    </a:lnT>
                    <a:lnB w="6350">
                      <a:solidFill>
                        <a:srgbClr val="D9D3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D22"/>
                          </a:solidFill>
                          <a:latin typeface="Montserrat"/>
                        </a:rPr>
                        <a:t>Из самоописания в резюме</a:t>
                      </a:r>
                    </a:p>
                  </a:txBody>
                  <a:tcPr marL="137160" marR="137160" anchor="ctr">
                    <a:lnL w="6350">
                      <a:solidFill>
                        <a:srgbClr val="D9D3EE"/>
                      </a:solidFill>
                    </a:lnL>
                    <a:lnR w="6350">
                      <a:solidFill>
                        <a:srgbClr val="D9D3EE"/>
                      </a:solidFill>
                    </a:lnR>
                    <a:lnT w="6350">
                      <a:solidFill>
                        <a:srgbClr val="D9D3EE"/>
                      </a:solidFill>
                    </a:lnT>
                    <a:lnB w="6350">
                      <a:solidFill>
                        <a:srgbClr val="D9D3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D1451"/>
                          </a:solidFill>
                          <a:latin typeface="Montserrat"/>
                        </a:rPr>
                        <a:t>Из теста на заявленный грейд</a:t>
                      </a:r>
                    </a:p>
                  </a:txBody>
                  <a:tcPr marL="137160" marR="137160" anchor="ctr">
                    <a:lnL w="6350">
                      <a:solidFill>
                        <a:srgbClr val="D9D3EE"/>
                      </a:solidFill>
                    </a:lnL>
                    <a:lnR w="6350">
                      <a:solidFill>
                        <a:srgbClr val="D9D3EE"/>
                      </a:solidFill>
                    </a:lnR>
                    <a:lnT w="6350">
                      <a:solidFill>
                        <a:srgbClr val="D9D3EE"/>
                      </a:solidFill>
                    </a:lnT>
                    <a:lnB w="6350">
                      <a:solidFill>
                        <a:srgbClr val="D9D3EE"/>
                      </a:solidFill>
                    </a:lnB>
                    <a:solidFill>
                      <a:srgbClr val="FFD6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494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520977"/>
                          </a:solidFill>
                          <a:latin typeface="Montserrat"/>
                        </a:rPr>
                        <a:t>Задания теста</a:t>
                      </a:r>
                    </a:p>
                  </a:txBody>
                  <a:tcPr marL="137160" marR="137160" anchor="ctr">
                    <a:lnL w="6350">
                      <a:solidFill>
                        <a:srgbClr val="D9D3EE"/>
                      </a:solidFill>
                    </a:lnL>
                    <a:lnR w="6350">
                      <a:solidFill>
                        <a:srgbClr val="D9D3EE"/>
                      </a:solidFill>
                    </a:lnR>
                    <a:lnT w="6350">
                      <a:solidFill>
                        <a:srgbClr val="D9D3EE"/>
                      </a:solidFill>
                    </a:lnT>
                    <a:lnB w="6350">
                      <a:solidFill>
                        <a:srgbClr val="D9D3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D22"/>
                          </a:solidFill>
                          <a:latin typeface="Montserrat"/>
                        </a:rPr>
                        <a:t>Теста нет или он общий для всех</a:t>
                      </a:r>
                    </a:p>
                  </a:txBody>
                  <a:tcPr marL="137160" marR="137160" anchor="ctr">
                    <a:lnL w="6350">
                      <a:solidFill>
                        <a:srgbClr val="D9D3EE"/>
                      </a:solidFill>
                    </a:lnL>
                    <a:lnR w="6350">
                      <a:solidFill>
                        <a:srgbClr val="D9D3EE"/>
                      </a:solidFill>
                    </a:lnR>
                    <a:lnT w="6350">
                      <a:solidFill>
                        <a:srgbClr val="D9D3EE"/>
                      </a:solidFill>
                    </a:lnT>
                    <a:lnB w="6350">
                      <a:solidFill>
                        <a:srgbClr val="D9D3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D1451"/>
                          </a:solidFill>
                          <a:latin typeface="Montserrat"/>
                        </a:rPr>
                        <a:t>У каждого кандидата свой набор заданий</a:t>
                      </a:r>
                    </a:p>
                  </a:txBody>
                  <a:tcPr marL="137160" marR="137160" anchor="ctr">
                    <a:lnL w="6350">
                      <a:solidFill>
                        <a:srgbClr val="D9D3EE"/>
                      </a:solidFill>
                    </a:lnL>
                    <a:lnR w="6350">
                      <a:solidFill>
                        <a:srgbClr val="D9D3EE"/>
                      </a:solidFill>
                    </a:lnR>
                    <a:lnT w="6350">
                      <a:solidFill>
                        <a:srgbClr val="D9D3EE"/>
                      </a:solidFill>
                    </a:lnT>
                    <a:lnB w="6350">
                      <a:solidFill>
                        <a:srgbClr val="D9D3EE"/>
                      </a:solidFill>
                    </a:lnB>
                    <a:solidFill>
                      <a:srgbClr val="FFD6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9494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520977"/>
                          </a:solidFill>
                          <a:latin typeface="Montserrat"/>
                        </a:rPr>
                        <a:t>Зарплата</a:t>
                      </a:r>
                    </a:p>
                  </a:txBody>
                  <a:tcPr marL="137160" marR="137160" anchor="ctr">
                    <a:lnL w="6350">
                      <a:solidFill>
                        <a:srgbClr val="D9D3EE"/>
                      </a:solidFill>
                    </a:lnL>
                    <a:lnR w="6350">
                      <a:solidFill>
                        <a:srgbClr val="D9D3EE"/>
                      </a:solidFill>
                    </a:lnR>
                    <a:lnT w="6350">
                      <a:solidFill>
                        <a:srgbClr val="D9D3EE"/>
                      </a:solidFill>
                    </a:lnT>
                    <a:lnB w="6350">
                      <a:solidFill>
                        <a:srgbClr val="D9D3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D22"/>
                          </a:solidFill>
                          <a:latin typeface="Montserrat"/>
                        </a:rPr>
                        <a:t>Указывать необязательно</a:t>
                      </a:r>
                    </a:p>
                  </a:txBody>
                  <a:tcPr marL="137160" marR="137160" anchor="ctr">
                    <a:lnL w="6350">
                      <a:solidFill>
                        <a:srgbClr val="D9D3EE"/>
                      </a:solidFill>
                    </a:lnL>
                    <a:lnR w="6350">
                      <a:solidFill>
                        <a:srgbClr val="D9D3EE"/>
                      </a:solidFill>
                    </a:lnR>
                    <a:lnT w="6350">
                      <a:solidFill>
                        <a:srgbClr val="D9D3EE"/>
                      </a:solidFill>
                    </a:lnT>
                    <a:lnB w="6350">
                      <a:solidFill>
                        <a:srgbClr val="D9D3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D1451"/>
                          </a:solidFill>
                          <a:latin typeface="Montserrat"/>
                        </a:rPr>
                        <a:t>Вилка обязательна в вакансии и приглашении</a:t>
                      </a:r>
                    </a:p>
                  </a:txBody>
                  <a:tcPr marL="137160" marR="137160" anchor="ctr">
                    <a:lnL w="6350">
                      <a:solidFill>
                        <a:srgbClr val="D9D3EE"/>
                      </a:solidFill>
                    </a:lnL>
                    <a:lnR w="6350">
                      <a:solidFill>
                        <a:srgbClr val="D9D3EE"/>
                      </a:solidFill>
                    </a:lnR>
                    <a:lnT w="6350">
                      <a:solidFill>
                        <a:srgbClr val="D9D3EE"/>
                      </a:solidFill>
                    </a:lnT>
                    <a:lnB w="6350">
                      <a:solidFill>
                        <a:srgbClr val="D9D3EE"/>
                      </a:solidFill>
                    </a:lnB>
                    <a:solidFill>
                      <a:srgbClr val="FFD6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9494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520977"/>
                          </a:solidFill>
                          <a:latin typeface="Montserrat"/>
                        </a:rPr>
                        <a:t>Контакты кандидата</a:t>
                      </a:r>
                    </a:p>
                  </a:txBody>
                  <a:tcPr marL="137160" marR="137160" anchor="ctr">
                    <a:lnL w="6350">
                      <a:solidFill>
                        <a:srgbClr val="D9D3EE"/>
                      </a:solidFill>
                    </a:lnL>
                    <a:lnR w="6350">
                      <a:solidFill>
                        <a:srgbClr val="D9D3EE"/>
                      </a:solidFill>
                    </a:lnR>
                    <a:lnT w="6350">
                      <a:solidFill>
                        <a:srgbClr val="D9D3EE"/>
                      </a:solidFill>
                    </a:lnT>
                    <a:lnB w="6350">
                      <a:solidFill>
                        <a:srgbClr val="D9D3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D22"/>
                          </a:solidFill>
                          <a:latin typeface="Montserrat"/>
                        </a:rPr>
                        <a:t>Доступны без его решения</a:t>
                      </a:r>
                    </a:p>
                  </a:txBody>
                  <a:tcPr marL="137160" marR="137160" anchor="ctr">
                    <a:lnL w="6350">
                      <a:solidFill>
                        <a:srgbClr val="D9D3EE"/>
                      </a:solidFill>
                    </a:lnL>
                    <a:lnR w="6350">
                      <a:solidFill>
                        <a:srgbClr val="D9D3EE"/>
                      </a:solidFill>
                    </a:lnR>
                    <a:lnT w="6350">
                      <a:solidFill>
                        <a:srgbClr val="D9D3EE"/>
                      </a:solidFill>
                    </a:lnT>
                    <a:lnB w="6350">
                      <a:solidFill>
                        <a:srgbClr val="D9D3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D1451"/>
                          </a:solidFill>
                          <a:latin typeface="Montserrat"/>
                        </a:rPr>
                        <a:t>Открываются только после согласия</a:t>
                      </a:r>
                    </a:p>
                  </a:txBody>
                  <a:tcPr marL="137160" marR="137160" anchor="ctr">
                    <a:lnL w="6350">
                      <a:solidFill>
                        <a:srgbClr val="D9D3EE"/>
                      </a:solidFill>
                    </a:lnL>
                    <a:lnR w="6350">
                      <a:solidFill>
                        <a:srgbClr val="D9D3EE"/>
                      </a:solidFill>
                    </a:lnR>
                    <a:lnT w="6350">
                      <a:solidFill>
                        <a:srgbClr val="D9D3EE"/>
                      </a:solidFill>
                    </a:lnT>
                    <a:lnB w="6350">
                      <a:solidFill>
                        <a:srgbClr val="D9D3EE"/>
                      </a:solidFill>
                    </a:lnB>
                    <a:solidFill>
                      <a:srgbClr val="FFD6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9494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520977"/>
                          </a:solidFill>
                          <a:latin typeface="Montserrat"/>
                        </a:rPr>
                        <a:t>Соревнования</a:t>
                      </a:r>
                    </a:p>
                  </a:txBody>
                  <a:tcPr marL="137160" marR="137160" anchor="ctr">
                    <a:lnL w="6350">
                      <a:solidFill>
                        <a:srgbClr val="D9D3EE"/>
                      </a:solidFill>
                    </a:lnL>
                    <a:lnR w="6350">
                      <a:solidFill>
                        <a:srgbClr val="D9D3EE"/>
                      </a:solidFill>
                    </a:lnR>
                    <a:lnT w="6350">
                      <a:solidFill>
                        <a:srgbClr val="D9D3EE"/>
                      </a:solidFill>
                    </a:lnT>
                    <a:lnB w="6350">
                      <a:solidFill>
                        <a:srgbClr val="D9D3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D22"/>
                          </a:solidFill>
                          <a:latin typeface="Montserrat"/>
                        </a:rPr>
                        <a:t>Строчка в резюме без проверки</a:t>
                      </a:r>
                    </a:p>
                  </a:txBody>
                  <a:tcPr marL="137160" marR="137160" anchor="ctr">
                    <a:lnL w="6350">
                      <a:solidFill>
                        <a:srgbClr val="D9D3EE"/>
                      </a:solidFill>
                    </a:lnL>
                    <a:lnR w="6350">
                      <a:solidFill>
                        <a:srgbClr val="D9D3EE"/>
                      </a:solidFill>
                    </a:lnR>
                    <a:lnT w="6350">
                      <a:solidFill>
                        <a:srgbClr val="D9D3EE"/>
                      </a:solidFill>
                    </a:lnT>
                    <a:lnB w="6350">
                      <a:solidFill>
                        <a:srgbClr val="D9D3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D1451"/>
                          </a:solidFill>
                          <a:latin typeface="Montserrat"/>
                        </a:rPr>
                        <a:t>Подтверждённые данные ФСП влияют на место в выдаче</a:t>
                      </a:r>
                    </a:p>
                  </a:txBody>
                  <a:tcPr marL="137160" marR="137160" anchor="ctr">
                    <a:lnL w="6350">
                      <a:solidFill>
                        <a:srgbClr val="D9D3EE"/>
                      </a:solidFill>
                    </a:lnL>
                    <a:lnR w="6350">
                      <a:solidFill>
                        <a:srgbClr val="D9D3EE"/>
                      </a:solidFill>
                    </a:lnR>
                    <a:lnT w="6350">
                      <a:solidFill>
                        <a:srgbClr val="D9D3EE"/>
                      </a:solidFill>
                    </a:lnT>
                    <a:lnB w="6350">
                      <a:solidFill>
                        <a:srgbClr val="D9D3EE"/>
                      </a:solidFill>
                    </a:lnB>
                    <a:solidFill>
                      <a:srgbClr val="FFD6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09842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437083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СВЕРХ ОБЯЗАТЕЛЬНОГО</a:t>
            </a:r>
            <a:endParaRPr lang="ru-RU" dirty="0"/>
          </a:p>
        </p:txBody>
      </p:sp>
      <p:sp>
        <p:nvSpPr>
          <p:cNvPr id="24" name="TextBox 23"/>
          <p:cNvSpPr txBox="1"/>
          <p:nvPr/>
        </p:nvSpPr>
        <p:spPr>
          <a:xfrm>
            <a:off x="521207" y="1371600"/>
            <a:ext cx="1005840" cy="54864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0">
                <a:solidFill>
                  <a:srgbClr val="FF0053"/>
                </a:solidFill>
                <a:latin typeface="Montserrat"/>
              </a:rP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72767" y="1408176"/>
            <a:ext cx="4434840" cy="132588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solidFill>
                  <a:srgbClr val="520977"/>
                </a:solidFill>
                <a:latin typeface="Montserrat"/>
              </a:rPr>
              <a:t>Отклик на вакансии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1C1D22"/>
                </a:solidFill>
                <a:latin typeface="Montserrat"/>
              </a:rPr>
              <a:t>Кандидат сам откликается на опубликованные вакансии и видит статусы откликов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7" y="2980944"/>
            <a:ext cx="1005840" cy="54864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0">
                <a:solidFill>
                  <a:srgbClr val="FF0053"/>
                </a:solidFill>
                <a:latin typeface="Montserrat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72767" y="3017520"/>
            <a:ext cx="4434840" cy="132588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solidFill>
                  <a:srgbClr val="520977"/>
                </a:solidFill>
                <a:latin typeface="Montserrat"/>
              </a:rPr>
              <a:t>Публикация вакансий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1C1D22"/>
                </a:solidFill>
                <a:latin typeface="Montserrat"/>
              </a:rPr>
              <a:t>Черновик, публикация на 14 дней, продление, входящие отклики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7" y="4562856"/>
            <a:ext cx="1005840" cy="54864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0">
                <a:solidFill>
                  <a:srgbClr val="FF0053"/>
                </a:solidFill>
                <a:latin typeface="Montserrat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72767" y="4599432"/>
            <a:ext cx="4434840" cy="132588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solidFill>
                  <a:srgbClr val="520977"/>
                </a:solidFill>
                <a:latin typeface="Montserrat"/>
              </a:rPr>
              <a:t>Короткие задачи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1C1D22"/>
                </a:solidFill>
                <a:latin typeface="Montserrat"/>
              </a:rPr>
              <a:t>Раз в неделю — задача от компании; ответ анонимный, компания оценивает и приглашает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90488" y="1371600"/>
            <a:ext cx="1005840" cy="54864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0">
                <a:solidFill>
                  <a:srgbClr val="FF0053"/>
                </a:solidFill>
                <a:latin typeface="Montserrat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42048" y="1408176"/>
            <a:ext cx="4434840" cy="132588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solidFill>
                  <a:srgbClr val="520977"/>
                </a:solidFill>
                <a:latin typeface="Montserrat"/>
              </a:rPr>
              <a:t>Защита от фиктивных вакансий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1C1D22"/>
                </a:solidFill>
                <a:latin typeface="Montserrat"/>
              </a:rPr>
              <a:t>Жалобы, модерация, лимиты приглашений, журнал раскрытия контактов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90488" y="2980944"/>
            <a:ext cx="1005840" cy="54864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0">
                <a:solidFill>
                  <a:srgbClr val="FF0053"/>
                </a:solidFill>
                <a:latin typeface="Montserrat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42048" y="3017520"/>
            <a:ext cx="4434840" cy="132588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solidFill>
                  <a:srgbClr val="520977"/>
                </a:solidFill>
                <a:latin typeface="Montserrat"/>
              </a:rPr>
              <a:t>Собеседования и офферы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1C1D22"/>
                </a:solidFill>
                <a:latin typeface="Montserrat"/>
              </a:rPr>
              <a:t>Слоты времени, результат с отзывом, оффер с зарплатой и сроком ответа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90488" y="4562856"/>
            <a:ext cx="1005840" cy="54864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0">
                <a:solidFill>
                  <a:srgbClr val="FF0053"/>
                </a:solidFill>
                <a:latin typeface="Montserrat"/>
              </a:rPr>
              <a:t>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42048" y="4599432"/>
            <a:ext cx="4434840" cy="132588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solidFill>
                  <a:srgbClr val="520977"/>
                </a:solidFill>
                <a:latin typeface="Montserrat"/>
              </a:rPr>
              <a:t>Концепции развития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1C1D22"/>
                </a:solidFill>
                <a:latin typeface="Montserrat"/>
              </a:rPr>
              <a:t>Проверка компаний по ЕГРЮЛ, интеграция с ATS, профиль для несовершеннолетних</a:t>
            </a:r>
          </a:p>
        </p:txBody>
      </p:sp>
    </p:spTree>
    <p:extLst>
      <p:ext uri="{BB962C8B-B14F-4D97-AF65-F5344CB8AC3E}">
        <p14:creationId xmlns:p14="http://schemas.microsoft.com/office/powerpoint/2010/main" val="17509842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364992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21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ПЛАНЫ РАЗВИТИЯ</a:t>
            </a:r>
            <a:endParaRPr lang="ru-RU" dirty="0"/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55" name="TextBox 54"/>
          <p:cNvSpPr txBox="1"/>
          <p:nvPr/>
        </p:nvSpPr>
        <p:spPr>
          <a:xfrm>
            <a:off x="292608" y="1463040"/>
            <a:ext cx="2615184" cy="141732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FF0053"/>
                </a:solidFill>
                <a:latin typeface="Montserrat"/>
              </a:rPr>
              <a:t>Репутация компаний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Жалобы на приглашения и публичный рейтинг отклика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78608" y="4919472"/>
            <a:ext cx="2615184" cy="141732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FF0053"/>
                </a:solidFill>
                <a:latin typeface="Montserrat"/>
              </a:rPr>
              <a:t>Проверка компаний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Сверка с ЕГРЮЛ и режим «только проверенные»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754880" y="1463040"/>
            <a:ext cx="2615184" cy="141732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FF0053"/>
                </a:solidFill>
                <a:latin typeface="Montserrat"/>
              </a:rPr>
              <a:t>Реальный ФСП ID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Вход через Keycloak и настоящий реестр достижений вместо заглушки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59168" y="4882896"/>
            <a:ext cx="2615184" cy="141732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FF0053"/>
                </a:solidFill>
                <a:latin typeface="Montserrat"/>
              </a:rPr>
              <a:t>Интеграция с ATS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Ключи компаний, уведомления о статусах, коннекторы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208007" y="1463040"/>
            <a:ext cx="2615184" cy="141732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FF0053"/>
                </a:solidFill>
                <a:latin typeface="Montserrat"/>
              </a:rPr>
              <a:t>Рост банка заданий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Новые специализации, задачи с кодом, калибровка на реальных ответах</a:t>
            </a:r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D181C43B-81A7-CE1F-8FD8-59408853402A}"/>
              </a:ext>
            </a:extLst>
          </p:cNvPr>
          <p:cNvSpPr/>
          <p:nvPr/>
        </p:nvSpPr>
        <p:spPr>
          <a:xfrm>
            <a:off x="346075" y="266006"/>
            <a:ext cx="5354638" cy="6331643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E1A398F8-7100-0AC0-7CC3-53622EA345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22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F8E8540A-FBD5-3747-09FA-CD79C4EC2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2040" y="496888"/>
            <a:ext cx="4781233" cy="415925"/>
          </a:xfrm>
        </p:spPr>
        <p:txBody>
          <a:bodyPr/>
          <a:lstStyle/>
          <a:p>
            <a:r>
              <a:rPr>
                <a:solidFill>
                  <a:srgbClr val="520977"/>
                </a:solidFill>
              </a:rPr>
              <a:t>ССЫЛКИ И ДОСТУПЫ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21792" y="1188720"/>
            <a:ext cx="4846320" cy="3505062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 dirty="0" err="1">
                <a:solidFill>
                  <a:srgbClr val="520977"/>
                </a:solidFill>
                <a:latin typeface="Montserrat"/>
              </a:rPr>
              <a:t>Прототип</a:t>
            </a:r>
            <a:endParaRPr sz="1200" b="1" dirty="0">
              <a:solidFill>
                <a:srgbClr val="520977"/>
              </a:solidFill>
              <a:latin typeface="Montserrat"/>
            </a:endParaRPr>
          </a:p>
          <a:p>
            <a:pPr algn="l">
              <a:spcAft>
                <a:spcPts val="900"/>
              </a:spcAft>
            </a:pPr>
            <a:r>
              <a:rPr lang="en-GB" sz="1250" b="0" dirty="0">
                <a:solidFill>
                  <a:srgbClr val="1C1D22"/>
                </a:solidFill>
                <a:latin typeface="Montserrat"/>
              </a:rPr>
              <a:t>https://201-24-62-88.sslip.io</a:t>
            </a:r>
          </a:p>
          <a:p>
            <a:pPr algn="l">
              <a:spcAft>
                <a:spcPts val="100"/>
              </a:spcAft>
            </a:pPr>
            <a:r>
              <a:rPr sz="1200" b="1" dirty="0" err="1">
                <a:solidFill>
                  <a:srgbClr val="520977"/>
                </a:solidFill>
                <a:latin typeface="Montserrat"/>
              </a:rPr>
              <a:t>Описание</a:t>
            </a:r>
            <a:r>
              <a:rPr sz="1200" b="1" dirty="0">
                <a:solidFill>
                  <a:srgbClr val="520977"/>
                </a:solidFill>
                <a:latin typeface="Montserrat"/>
              </a:rPr>
              <a:t> API</a:t>
            </a:r>
          </a:p>
          <a:p>
            <a:pPr algn="l">
              <a:spcAft>
                <a:spcPts val="900"/>
              </a:spcAft>
            </a:pPr>
            <a:r>
              <a:rPr sz="1250" b="0" dirty="0">
                <a:solidFill>
                  <a:srgbClr val="1C1D22"/>
                </a:solidFill>
                <a:latin typeface="Montserrat"/>
              </a:rPr>
              <a:t>https://201-24-62-88.sslip.io/</a:t>
            </a:r>
            <a:r>
              <a:rPr sz="1250" b="0" dirty="0" err="1">
                <a:solidFill>
                  <a:srgbClr val="1C1D22"/>
                </a:solidFill>
                <a:latin typeface="Montserrat"/>
              </a:rPr>
              <a:t>api</a:t>
            </a:r>
            <a:r>
              <a:rPr sz="1250" b="0" dirty="0">
                <a:solidFill>
                  <a:srgbClr val="1C1D22"/>
                </a:solidFill>
                <a:latin typeface="Montserrat"/>
              </a:rPr>
              <a:t>-docs/</a:t>
            </a:r>
          </a:p>
          <a:p>
            <a:pPr algn="l">
              <a:spcAft>
                <a:spcPts val="100"/>
              </a:spcAft>
            </a:pPr>
            <a:r>
              <a:rPr sz="1200" b="1" dirty="0" err="1">
                <a:solidFill>
                  <a:srgbClr val="520977"/>
                </a:solidFill>
                <a:latin typeface="Montserrat"/>
              </a:rPr>
              <a:t>Репозиторий</a:t>
            </a:r>
            <a:endParaRPr sz="1200" b="1" dirty="0">
              <a:solidFill>
                <a:srgbClr val="520977"/>
              </a:solidFill>
              <a:latin typeface="Montserrat"/>
            </a:endParaRPr>
          </a:p>
          <a:p>
            <a:pPr algn="l">
              <a:spcAft>
                <a:spcPts val="900"/>
              </a:spcAft>
            </a:pPr>
            <a:r>
              <a:rPr sz="1250" b="0" dirty="0" err="1">
                <a:solidFill>
                  <a:srgbClr val="1C1D22"/>
                </a:solidFill>
                <a:latin typeface="Montserrat"/>
              </a:rPr>
              <a:t>github.com</a:t>
            </a:r>
            <a:r>
              <a:rPr sz="1250" b="0" dirty="0">
                <a:solidFill>
                  <a:srgbClr val="1C1D22"/>
                </a:solidFill>
                <a:latin typeface="Montserrat"/>
              </a:rPr>
              <a:t>/LaimOr127/Digital-platform-aggregator-of-IT-vacancies-FSP-</a:t>
            </a:r>
          </a:p>
          <a:p>
            <a:pPr algn="l">
              <a:spcAft>
                <a:spcPts val="100"/>
              </a:spcAft>
            </a:pPr>
            <a:r>
              <a:rPr sz="1200" b="1" dirty="0" err="1">
                <a:solidFill>
                  <a:srgbClr val="520977"/>
                </a:solidFill>
                <a:latin typeface="Montserrat"/>
              </a:rPr>
              <a:t>Демо-вход</a:t>
            </a:r>
            <a:r>
              <a:rPr lang="ru-RU" sz="1200" b="1" dirty="0">
                <a:solidFill>
                  <a:srgbClr val="520977"/>
                </a:solidFill>
                <a:latin typeface="Montserrat"/>
              </a:rPr>
              <a:t> (можно зарегистрироваться своей почтой)</a:t>
            </a:r>
            <a:endParaRPr sz="1200" b="1" dirty="0">
              <a:solidFill>
                <a:srgbClr val="520977"/>
              </a:solidFill>
              <a:latin typeface="Montserrat"/>
            </a:endParaRPr>
          </a:p>
          <a:p>
            <a:r>
              <a:rPr lang="en-RU" sz="1250" dirty="0"/>
              <a:t>Кандидат:</a:t>
            </a:r>
          </a:p>
          <a:p>
            <a:r>
              <a:rPr lang="en-RU" sz="1250" dirty="0"/>
              <a:t>demo-candidate@example.org</a:t>
            </a:r>
          </a:p>
          <a:p>
            <a:r>
              <a:rPr lang="en-RU" sz="1250" dirty="0"/>
              <a:t>Demo2e978f6bb16f</a:t>
            </a:r>
          </a:p>
          <a:p>
            <a:r>
              <a:rPr lang="en-RU" sz="1250" dirty="0"/>
              <a:t>Компания:</a:t>
            </a:r>
          </a:p>
          <a:p>
            <a:r>
              <a:rPr lang="en-RU" sz="1250" dirty="0"/>
              <a:t>demo-hr@example.org</a:t>
            </a:r>
          </a:p>
          <a:p>
            <a:r>
              <a:rPr lang="en-RU" sz="1250" dirty="0"/>
              <a:t>Demo2e978f6bb16f</a:t>
            </a:r>
          </a:p>
          <a:p>
            <a:pPr algn="l">
              <a:spcAft>
                <a:spcPts val="100"/>
              </a:spcAft>
            </a:pPr>
            <a:r>
              <a:rPr sz="1200" b="1" dirty="0">
                <a:solidFill>
                  <a:srgbClr val="520977"/>
                </a:solidFill>
                <a:latin typeface="Montserrat"/>
              </a:rPr>
              <a:t>ID </a:t>
            </a:r>
            <a:r>
              <a:rPr sz="1200" b="1" dirty="0" err="1">
                <a:solidFill>
                  <a:srgbClr val="520977"/>
                </a:solidFill>
                <a:latin typeface="Montserrat"/>
              </a:rPr>
              <a:t>для</a:t>
            </a:r>
            <a:r>
              <a:rPr sz="1200" b="1" dirty="0">
                <a:solidFill>
                  <a:srgbClr val="520977"/>
                </a:solidFill>
                <a:latin typeface="Montserrat"/>
              </a:rPr>
              <a:t> </a:t>
            </a:r>
            <a:r>
              <a:rPr sz="1200" b="1" dirty="0" err="1">
                <a:solidFill>
                  <a:srgbClr val="520977"/>
                </a:solidFill>
                <a:latin typeface="Montserrat"/>
              </a:rPr>
              <a:t>привязки</a:t>
            </a:r>
            <a:r>
              <a:rPr sz="1200" b="1" dirty="0">
                <a:solidFill>
                  <a:srgbClr val="520977"/>
                </a:solidFill>
                <a:latin typeface="Montserrat"/>
              </a:rPr>
              <a:t> ФСП</a:t>
            </a:r>
          </a:p>
          <a:p>
            <a:pPr algn="l">
              <a:spcAft>
                <a:spcPts val="900"/>
              </a:spcAft>
            </a:pPr>
            <a:r>
              <a:rPr sz="1250" b="0" dirty="0">
                <a:solidFill>
                  <a:srgbClr val="1C1D22"/>
                </a:solidFill>
                <a:latin typeface="Montserrat"/>
              </a:rPr>
              <a:t>FSP-24001 … FSP-24007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468880"/>
            <a:ext cx="5303520" cy="201168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4400" b="1">
                <a:solidFill>
                  <a:srgbClr val="FFFFFF"/>
                </a:solidFill>
                <a:latin typeface="Montserrat"/>
              </a:rPr>
              <a:t>Спасибо!</a:t>
            </a:r>
          </a:p>
          <a:p>
            <a:pPr algn="l"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Montserrat"/>
              </a:rPr>
              <a:t>Покажем сквозной сценарий на стенде и ответим на вопросы</a:t>
            </a:r>
          </a:p>
        </p:txBody>
      </p:sp>
    </p:spTree>
    <p:extLst>
      <p:ext uri="{BB962C8B-B14F-4D97-AF65-F5344CB8AC3E}">
        <p14:creationId xmlns:p14="http://schemas.microsoft.com/office/powerpoint/2010/main" val="1201716719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11354</TotalTime>
  <Words>1977</Words>
  <Application>Microsoft Macintosh PowerPoint</Application>
  <PresentationFormat>Widescreen</PresentationFormat>
  <Paragraphs>324</Paragraphs>
  <Slides>22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Calibri</vt:lpstr>
      <vt:lpstr>Montserrat</vt:lpstr>
      <vt:lpstr>Wingdings</vt:lpstr>
      <vt:lpstr>Для Академия инноваторов 16_9</vt:lpstr>
      <vt:lpstr>IT MATCH</vt:lpstr>
      <vt:lpstr>IT MATCH</vt:lpstr>
      <vt:lpstr>КОМАНДА</vt:lpstr>
      <vt:lpstr>О КОМАНДЕ И ЗАДАЧЕ</vt:lpstr>
      <vt:lpstr>КОРОТКО О РЕШЕНИИ</vt:lpstr>
      <vt:lpstr>ЧТО НЕ ТАК С ПОИСКОМ РАБОТЫ В ИТ</vt:lpstr>
      <vt:lpstr>ОБРАТНАЯ МЕХАНИКА ПОДБОРА</vt:lpstr>
      <vt:lpstr>КАБИНЕТ КАНДИДАТА</vt:lpstr>
      <vt:lpstr>КАБИНЕТ РАБОТОДАТЕЛЯ</vt:lpstr>
      <vt:lpstr>МЕХАНИКА ТЕСТИРОВАНИЯ</vt:lpstr>
      <vt:lpstr>ПРОВЕРКА ТЕСТИРОВАНИЯ</vt:lpstr>
      <vt:lpstr>МЕХАНИКА ПОДБОРА</vt:lpstr>
      <vt:lpstr>ПРОВЕРКА ПОДБОРА</vt:lpstr>
      <vt:lpstr>ИНТЕГРАЦИЯ С ФСП</vt:lpstr>
      <vt:lpstr>АРХИТЕКТУРА</vt:lpstr>
      <vt:lpstr>ТЕХНИЧЕСКАЯ ПРОРАБОТКА</vt:lpstr>
      <vt:lpstr>ЦЕННОСТЬ ДЛЯ УЧАСТНИКОВ</vt:lpstr>
      <vt:lpstr>БИЗНЕС-МОДЕЛЬ: ГИПОТЕЗЫ</vt:lpstr>
      <vt:lpstr>ЧЕМ ОТЛИЧАЕТСЯ РЕШЕНИЕ</vt:lpstr>
      <vt:lpstr>СВЕРХ ОБЯЗАТЕЛЬНОГО</vt:lpstr>
      <vt:lpstr>ПЛАНЫ РАЗВИТИЯ</vt:lpstr>
      <vt:lpstr>ССЫЛКИ И ДОСТУПЫ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Вика Вертаева</cp:lastModifiedBy>
  <cp:revision>100</cp:revision>
  <dcterms:created xsi:type="dcterms:W3CDTF">2023-05-15T07:36:23Z</dcterms:created>
  <dcterms:modified xsi:type="dcterms:W3CDTF">2026-10-10T12:36:32Z</dcterms:modified>
</cp:coreProperties>
</file>